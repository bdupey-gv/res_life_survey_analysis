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sldIdLst>
    <p:sldId id="258" r:id="rId5"/>
    <p:sldId id="259" r:id="rId6"/>
    <p:sldId id="282" r:id="rId7"/>
    <p:sldId id="260" r:id="rId8"/>
    <p:sldId id="261" r:id="rId9"/>
    <p:sldId id="262" r:id="rId10"/>
    <p:sldId id="267" r:id="rId11"/>
    <p:sldId id="281" r:id="rId12"/>
    <p:sldId id="276" r:id="rId13"/>
    <p:sldId id="277" r:id="rId14"/>
    <p:sldId id="278" r:id="rId15"/>
    <p:sldId id="263" r:id="rId16"/>
    <p:sldId id="264" r:id="rId17"/>
    <p:sldId id="266" r:id="rId18"/>
    <p:sldId id="265" r:id="rId19"/>
    <p:sldId id="268" r:id="rId20"/>
    <p:sldId id="269" r:id="rId21"/>
    <p:sldId id="270" r:id="rId22"/>
    <p:sldId id="271" r:id="rId23"/>
    <p:sldId id="279" r:id="rId24"/>
    <p:sldId id="280" r:id="rId25"/>
    <p:sldId id="27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37582"/>
    <a:srgbClr val="43444C"/>
    <a:srgbClr val="009FFD"/>
    <a:srgbClr val="255C99"/>
    <a:srgbClr val="95C623"/>
    <a:srgbClr val="FFA400"/>
    <a:srgbClr val="D426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66949" autoAdjust="0"/>
  </p:normalViewPr>
  <p:slideViewPr>
    <p:cSldViewPr snapToGrid="0">
      <p:cViewPr varScale="1">
        <p:scale>
          <a:sx n="70" d="100"/>
          <a:sy n="70" d="100"/>
        </p:scale>
        <p:origin x="123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23-24</c:v>
                </c:pt>
              </c:strCache>
            </c:strRef>
          </c:tx>
          <c:spPr>
            <a:ln w="92075"/>
          </c:spPr>
          <c:dPt>
            <c:idx val="0"/>
            <c:bubble3D val="0"/>
            <c:spPr>
              <a:solidFill>
                <a:srgbClr val="95C623"/>
              </a:solidFill>
              <a:ln w="92075">
                <a:solidFill>
                  <a:schemeClr val="lt1"/>
                </a:solidFill>
              </a:ln>
              <a:effectLst/>
            </c:spPr>
            <c:extLst>
              <c:ext xmlns:c16="http://schemas.microsoft.com/office/drawing/2014/chart" uri="{C3380CC4-5D6E-409C-BE32-E72D297353CC}">
                <c16:uniqueId val="{00000001-409F-4704-A99A-ECB72744AE21}"/>
              </c:ext>
            </c:extLst>
          </c:dPt>
          <c:dPt>
            <c:idx val="1"/>
            <c:bubble3D val="0"/>
            <c:spPr>
              <a:solidFill>
                <a:schemeClr val="accent3">
                  <a:lumMod val="60000"/>
                  <a:lumOff val="40000"/>
                </a:schemeClr>
              </a:solidFill>
              <a:ln w="92075">
                <a:solidFill>
                  <a:schemeClr val="lt1"/>
                </a:solidFill>
              </a:ln>
              <a:effectLst/>
            </c:spPr>
            <c:extLst>
              <c:ext xmlns:c16="http://schemas.microsoft.com/office/drawing/2014/chart" uri="{C3380CC4-5D6E-409C-BE32-E72D297353CC}">
                <c16:uniqueId val="{00000002-409F-4704-A99A-ECB72744AE21}"/>
              </c:ext>
            </c:extLst>
          </c:dPt>
          <c:dLbls>
            <c:dLbl>
              <c:idx val="0"/>
              <c:layout>
                <c:manualLayout>
                  <c:x val="-1.6046495884068964E-16"/>
                  <c:y val="-0.11971104231166151"/>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09F-4704-A99A-ECB72744AE21}"/>
                </c:ext>
              </c:extLst>
            </c:dLbl>
            <c:dLbl>
              <c:idx val="1"/>
              <c:delete val="1"/>
              <c:extLst>
                <c:ext xmlns:c15="http://schemas.microsoft.com/office/drawing/2012/chart" uri="{CE6537A1-D6FC-4f65-9D91-7224C49458BB}"/>
                <c:ext xmlns:c16="http://schemas.microsoft.com/office/drawing/2014/chart" uri="{C3380CC4-5D6E-409C-BE32-E72D297353CC}">
                  <c16:uniqueId val="{00000002-409F-4704-A99A-ECB72744AE21}"/>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Complete</c:v>
                </c:pt>
                <c:pt idx="1">
                  <c:v>Incomlete</c:v>
                </c:pt>
              </c:strCache>
            </c:strRef>
          </c:cat>
          <c:val>
            <c:numRef>
              <c:f>Sheet1!$B$2:$B$3</c:f>
              <c:numCache>
                <c:formatCode>General</c:formatCode>
                <c:ptCount val="2"/>
                <c:pt idx="0">
                  <c:v>40</c:v>
                </c:pt>
                <c:pt idx="1">
                  <c:v>60</c:v>
                </c:pt>
              </c:numCache>
            </c:numRef>
          </c:val>
          <c:extLst>
            <c:ext xmlns:c16="http://schemas.microsoft.com/office/drawing/2014/chart" uri="{C3380CC4-5D6E-409C-BE32-E72D297353CC}">
              <c16:uniqueId val="{00000000-409F-4704-A99A-ECB72744AE21}"/>
            </c:ext>
          </c:extLst>
        </c:ser>
        <c:dLbls>
          <c:dLblPos val="outEnd"/>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24-25</c:v>
                </c:pt>
              </c:strCache>
            </c:strRef>
          </c:tx>
          <c:spPr>
            <a:ln w="92075"/>
          </c:spPr>
          <c:dPt>
            <c:idx val="0"/>
            <c:bubble3D val="0"/>
            <c:spPr>
              <a:solidFill>
                <a:srgbClr val="FFA400"/>
              </a:solidFill>
              <a:ln w="92075">
                <a:solidFill>
                  <a:schemeClr val="lt1"/>
                </a:solidFill>
              </a:ln>
              <a:effectLst/>
            </c:spPr>
            <c:extLst>
              <c:ext xmlns:c16="http://schemas.microsoft.com/office/drawing/2014/chart" uri="{C3380CC4-5D6E-409C-BE32-E72D297353CC}">
                <c16:uniqueId val="{00000001-2FBA-481E-B104-BF3853FD830A}"/>
              </c:ext>
            </c:extLst>
          </c:dPt>
          <c:dPt>
            <c:idx val="1"/>
            <c:bubble3D val="0"/>
            <c:spPr>
              <a:solidFill>
                <a:schemeClr val="accent3">
                  <a:lumMod val="60000"/>
                  <a:lumOff val="40000"/>
                </a:schemeClr>
              </a:solidFill>
              <a:ln w="92075">
                <a:solidFill>
                  <a:schemeClr val="lt1"/>
                </a:solidFill>
              </a:ln>
              <a:effectLst/>
            </c:spPr>
            <c:extLst>
              <c:ext xmlns:c16="http://schemas.microsoft.com/office/drawing/2014/chart" uri="{C3380CC4-5D6E-409C-BE32-E72D297353CC}">
                <c16:uniqueId val="{00000003-2FBA-481E-B104-BF3853FD830A}"/>
              </c:ext>
            </c:extLst>
          </c:dPt>
          <c:dLbls>
            <c:dLbl>
              <c:idx val="1"/>
              <c:delete val="1"/>
              <c:extLst>
                <c:ext xmlns:c15="http://schemas.microsoft.com/office/drawing/2012/chart" uri="{CE6537A1-D6FC-4f65-9D91-7224C49458BB}"/>
                <c:ext xmlns:c16="http://schemas.microsoft.com/office/drawing/2014/chart" uri="{C3380CC4-5D6E-409C-BE32-E72D297353CC}">
                  <c16:uniqueId val="{00000003-2FBA-481E-B104-BF3853FD830A}"/>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Complete</c:v>
                </c:pt>
                <c:pt idx="1">
                  <c:v>Incomlete</c:v>
                </c:pt>
              </c:strCache>
            </c:strRef>
          </c:cat>
          <c:val>
            <c:numRef>
              <c:f>Sheet1!$B$2:$B$3</c:f>
              <c:numCache>
                <c:formatCode>General</c:formatCode>
                <c:ptCount val="2"/>
                <c:pt idx="0">
                  <c:v>19.23</c:v>
                </c:pt>
                <c:pt idx="1">
                  <c:v>80.77</c:v>
                </c:pt>
              </c:numCache>
            </c:numRef>
          </c:val>
          <c:extLst>
            <c:ext xmlns:c16="http://schemas.microsoft.com/office/drawing/2014/chart" uri="{C3380CC4-5D6E-409C-BE32-E72D297353CC}">
              <c16:uniqueId val="{00000004-2FBA-481E-B104-BF3853FD830A}"/>
            </c:ext>
          </c:extLst>
        </c:ser>
        <c:dLbls>
          <c:dLblPos val="outEnd"/>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24-25</c:v>
                </c:pt>
              </c:strCache>
            </c:strRef>
          </c:tx>
          <c:spPr>
            <a:ln w="92075"/>
          </c:spPr>
          <c:dPt>
            <c:idx val="0"/>
            <c:bubble3D val="0"/>
            <c:spPr>
              <a:solidFill>
                <a:srgbClr val="FFA400"/>
              </a:solidFill>
              <a:ln w="92075">
                <a:solidFill>
                  <a:schemeClr val="lt1"/>
                </a:solidFill>
              </a:ln>
              <a:effectLst/>
            </c:spPr>
            <c:extLst>
              <c:ext xmlns:c16="http://schemas.microsoft.com/office/drawing/2014/chart" uri="{C3380CC4-5D6E-409C-BE32-E72D297353CC}">
                <c16:uniqueId val="{00000001-1543-47B0-ADD8-4C730103D0AE}"/>
              </c:ext>
            </c:extLst>
          </c:dPt>
          <c:dPt>
            <c:idx val="1"/>
            <c:bubble3D val="0"/>
            <c:spPr>
              <a:solidFill>
                <a:schemeClr val="accent3">
                  <a:lumMod val="60000"/>
                  <a:lumOff val="40000"/>
                </a:schemeClr>
              </a:solidFill>
              <a:ln w="92075">
                <a:solidFill>
                  <a:schemeClr val="lt1"/>
                </a:solidFill>
              </a:ln>
              <a:effectLst/>
            </c:spPr>
            <c:extLst>
              <c:ext xmlns:c16="http://schemas.microsoft.com/office/drawing/2014/chart" uri="{C3380CC4-5D6E-409C-BE32-E72D297353CC}">
                <c16:uniqueId val="{00000003-1543-47B0-ADD8-4C730103D0AE}"/>
              </c:ext>
            </c:extLst>
          </c:dPt>
          <c:dLbls>
            <c:dLbl>
              <c:idx val="0"/>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1"/>
              <c:showBubbleSize val="0"/>
              <c:extLst>
                <c:ext xmlns:c16="http://schemas.microsoft.com/office/drawing/2014/chart" uri="{C3380CC4-5D6E-409C-BE32-E72D297353CC}">
                  <c16:uniqueId val="{00000001-1543-47B0-ADD8-4C730103D0AE}"/>
                </c:ext>
              </c:extLst>
            </c:dLbl>
            <c:dLbl>
              <c:idx val="1"/>
              <c:delete val="1"/>
              <c:extLst>
                <c:ext xmlns:c15="http://schemas.microsoft.com/office/drawing/2012/chart" uri="{CE6537A1-D6FC-4f65-9D91-7224C49458BB}"/>
                <c:ext xmlns:c16="http://schemas.microsoft.com/office/drawing/2014/chart" uri="{C3380CC4-5D6E-409C-BE32-E72D297353CC}">
                  <c16:uniqueId val="{00000003-1543-47B0-ADD8-4C730103D0A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Complete</c:v>
                </c:pt>
                <c:pt idx="1">
                  <c:v>Incomlete</c:v>
                </c:pt>
              </c:strCache>
            </c:strRef>
          </c:cat>
          <c:val>
            <c:numRef>
              <c:f>Sheet1!$B$2:$B$3</c:f>
              <c:numCache>
                <c:formatCode>General</c:formatCode>
                <c:ptCount val="2"/>
                <c:pt idx="0">
                  <c:v>18.95</c:v>
                </c:pt>
                <c:pt idx="1">
                  <c:v>81.05</c:v>
                </c:pt>
              </c:numCache>
            </c:numRef>
          </c:val>
          <c:extLst>
            <c:ext xmlns:c16="http://schemas.microsoft.com/office/drawing/2014/chart" uri="{C3380CC4-5D6E-409C-BE32-E72D297353CC}">
              <c16:uniqueId val="{00000004-1543-47B0-ADD8-4C730103D0AE}"/>
            </c:ext>
          </c:extLst>
        </c:ser>
        <c:dLbls>
          <c:dLblPos val="outEnd"/>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00" b="1" dirty="0"/>
              <a:t>Score</a:t>
            </a:r>
            <a:r>
              <a:rPr lang="en-US" sz="1800" b="1" baseline="0" dirty="0"/>
              <a:t> Change by Area (24-25 minus 23-24)</a:t>
            </a:r>
            <a:endParaRPr lang="en-US" sz="1800"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rgbClr val="255C9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Overall Safety</c:v>
                </c:pt>
                <c:pt idx="1">
                  <c:v>University Staff</c:v>
                </c:pt>
                <c:pt idx="2">
                  <c:v>Resident Assisted Support</c:v>
                </c:pt>
                <c:pt idx="3">
                  <c:v>Facilities</c:v>
                </c:pt>
                <c:pt idx="4">
                  <c:v>University Events</c:v>
                </c:pt>
              </c:strCache>
            </c:strRef>
          </c:cat>
          <c:val>
            <c:numRef>
              <c:f>Sheet1!$B$2:$B$6</c:f>
              <c:numCache>
                <c:formatCode>General</c:formatCode>
                <c:ptCount val="5"/>
                <c:pt idx="0">
                  <c:v>-1.4999999999999999E-2</c:v>
                </c:pt>
                <c:pt idx="1">
                  <c:v>-1.9E-2</c:v>
                </c:pt>
                <c:pt idx="2">
                  <c:v>-0.29099999999999998</c:v>
                </c:pt>
                <c:pt idx="3">
                  <c:v>-0.33500000000000002</c:v>
                </c:pt>
                <c:pt idx="4">
                  <c:v>-0.374</c:v>
                </c:pt>
              </c:numCache>
            </c:numRef>
          </c:val>
          <c:extLst>
            <c:ext xmlns:c16="http://schemas.microsoft.com/office/drawing/2014/chart" uri="{C3380CC4-5D6E-409C-BE32-E72D297353CC}">
              <c16:uniqueId val="{00000000-0670-48E9-9B91-6D383C2A20BE}"/>
            </c:ext>
          </c:extLst>
        </c:ser>
        <c:dLbls>
          <c:dLblPos val="outEnd"/>
          <c:showLegendKey val="0"/>
          <c:showVal val="1"/>
          <c:showCatName val="0"/>
          <c:showSerName val="0"/>
          <c:showPercent val="0"/>
          <c:showBubbleSize val="0"/>
        </c:dLbls>
        <c:gapWidth val="182"/>
        <c:axId val="1154543247"/>
        <c:axId val="1154557647"/>
      </c:barChart>
      <c:catAx>
        <c:axId val="11545432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54557647"/>
        <c:crosses val="autoZero"/>
        <c:auto val="1"/>
        <c:lblAlgn val="ctr"/>
        <c:lblOffset val="900"/>
        <c:tickLblSkip val="1"/>
        <c:noMultiLvlLbl val="0"/>
      </c:catAx>
      <c:valAx>
        <c:axId val="1154557647"/>
        <c:scaling>
          <c:orientation val="minMax"/>
          <c:max val="0"/>
          <c:min val="-0.4"/>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54543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lumMod val="90000"/>
        </a:schemeClr>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D3C284-0081-436F-8998-8D04FB5BBF28}" type="datetimeFigureOut">
              <a:t>4/6/2026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3A4BF0-A5CB-4774-8E62-9C8FB37C9466}" type="slidenum">
              <a:t>‹#›</a:t>
            </a:fld>
            <a:endParaRPr lang="en-US"/>
          </a:p>
        </p:txBody>
      </p:sp>
    </p:spTree>
    <p:extLst>
      <p:ext uri="{BB962C8B-B14F-4D97-AF65-F5344CB8AC3E}">
        <p14:creationId xmlns:p14="http://schemas.microsoft.com/office/powerpoint/2010/main" val="2182395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Isabella: Hello, today we will be presenting our findings on the </a:t>
            </a:r>
            <a:r>
              <a:rPr lang="en-US">
                <a:ea typeface="Calibri"/>
                <a:cs typeface="Calibri"/>
              </a:rPr>
              <a:t>resident life surveys that are sent out to students each year. </a:t>
            </a:r>
          </a:p>
          <a:p>
            <a:endParaRPr lang="en-US" dirty="0">
              <a:ea typeface="Calibri"/>
              <a:cs typeface="Calibri"/>
            </a:endParaRPr>
          </a:p>
          <a:p>
            <a:r>
              <a:rPr lang="en-US" dirty="0">
                <a:ea typeface="Calibri"/>
                <a:cs typeface="Calibri"/>
              </a:rPr>
              <a:t>Carly: These </a:t>
            </a:r>
            <a:r>
              <a:rPr lang="en-US">
                <a:ea typeface="Calibri"/>
                <a:cs typeface="Calibri"/>
              </a:rPr>
              <a:t>surveys</a:t>
            </a:r>
            <a:r>
              <a:rPr lang="en-US" dirty="0">
                <a:ea typeface="Calibri"/>
                <a:cs typeface="Calibri"/>
              </a:rPr>
              <a:t> ask students who live on campus a variety of questions about safety, facilities, dining hall experience, and resident assistant relationships. </a:t>
            </a:r>
          </a:p>
        </p:txBody>
      </p:sp>
      <p:sp>
        <p:nvSpPr>
          <p:cNvPr id="4" name="Slide Number Placeholder 3"/>
          <p:cNvSpPr>
            <a:spLocks noGrp="1"/>
          </p:cNvSpPr>
          <p:nvPr>
            <p:ph type="sldNum" sz="quarter" idx="5"/>
          </p:nvPr>
        </p:nvSpPr>
        <p:spPr/>
        <p:txBody>
          <a:bodyPr/>
          <a:lstStyle/>
          <a:p>
            <a:fld id="{923A4BF0-A5CB-4774-8E62-9C8FB37C9466}" type="slidenum">
              <a:t>1</a:t>
            </a:fld>
            <a:endParaRPr lang="en-US"/>
          </a:p>
        </p:txBody>
      </p:sp>
    </p:spTree>
    <p:extLst>
      <p:ext uri="{BB962C8B-B14F-4D97-AF65-F5344CB8AC3E}">
        <p14:creationId xmlns:p14="http://schemas.microsoft.com/office/powerpoint/2010/main" val="3754160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Isabella: We will start with a year-to-year comparison of statistics about the survey from the years 2023 to 2026. We will then dive into how safe students feel around campus. </a:t>
            </a:r>
          </a:p>
          <a:p>
            <a:endParaRPr lang="en-US" dirty="0">
              <a:ea typeface="Calibri"/>
              <a:cs typeface="Calibri"/>
            </a:endParaRPr>
          </a:p>
          <a:p>
            <a:r>
              <a:rPr lang="en-US" dirty="0">
                <a:ea typeface="Calibri"/>
                <a:cs typeface="Calibri"/>
              </a:rPr>
              <a:t>Carly: Then we will discuss the facilities around campus, students dining hall experience, and their overall feeling of belonging and community within the campus. </a:t>
            </a:r>
          </a:p>
          <a:p>
            <a:endParaRPr lang="en-US" dirty="0">
              <a:ea typeface="Calibri"/>
              <a:cs typeface="Calibri"/>
            </a:endParaRPr>
          </a:p>
          <a:p>
            <a:r>
              <a:rPr lang="en-US" dirty="0">
                <a:ea typeface="Calibri"/>
                <a:cs typeface="Calibri"/>
              </a:rPr>
              <a:t>TODO: Make sure to talk about how we defined these scores as a way to group certain question types together. i.e. “</a:t>
            </a:r>
            <a:r>
              <a:rPr lang="en-US" sz="1200" b="0" i="0" kern="1200" dirty="0">
                <a:solidFill>
                  <a:schemeClr val="tx1"/>
                </a:solidFill>
                <a:effectLst/>
                <a:latin typeface="+mn-lt"/>
                <a:ea typeface="+mn-ea"/>
                <a:cs typeface="+mn-cs"/>
              </a:rPr>
              <a:t>We turned each survey response into a 1-5 number, grouped related questions by topic (like RA, staff, safety, facilities, community, and outcomes), and took the average so each topic has one easy score.”</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923A4BF0-A5CB-4774-8E62-9C8FB37C9466}" type="slidenum">
              <a:t>2</a:t>
            </a:fld>
            <a:endParaRPr lang="en-US"/>
          </a:p>
        </p:txBody>
      </p:sp>
    </p:spTree>
    <p:extLst>
      <p:ext uri="{BB962C8B-B14F-4D97-AF65-F5344CB8AC3E}">
        <p14:creationId xmlns:p14="http://schemas.microsoft.com/office/powerpoint/2010/main" val="2728553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1220A-46A4-20C7-1935-FB602E5BBE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F5D1B0-A7A4-32EA-C4B0-AD235EE598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EB4699-AD2C-5BE8-769C-FB92957258B1}"/>
              </a:ext>
            </a:extLst>
          </p:cNvPr>
          <p:cNvSpPr>
            <a:spLocks noGrp="1"/>
          </p:cNvSpPr>
          <p:nvPr>
            <p:ph type="body" idx="1"/>
          </p:nvPr>
        </p:nvSpPr>
        <p:spPr/>
        <p:txBody>
          <a:bodyPr/>
          <a:lstStyle/>
          <a:p>
            <a:r>
              <a:rPr lang="en-US" dirty="0"/>
              <a:t>Ben: Someone is going to ask why this dropped from 23-24 to other years. The answer to this question is that the drop was mostly a total population drop. No single building, class, or athletic cohort stood out. </a:t>
            </a:r>
          </a:p>
        </p:txBody>
      </p:sp>
      <p:sp>
        <p:nvSpPr>
          <p:cNvPr id="4" name="Slide Number Placeholder 3">
            <a:extLst>
              <a:ext uri="{FF2B5EF4-FFF2-40B4-BE49-F238E27FC236}">
                <a16:creationId xmlns:a16="http://schemas.microsoft.com/office/drawing/2014/main" id="{C88FB680-80B6-9402-F515-13F16D6349B0}"/>
              </a:ext>
            </a:extLst>
          </p:cNvPr>
          <p:cNvSpPr>
            <a:spLocks noGrp="1"/>
          </p:cNvSpPr>
          <p:nvPr>
            <p:ph type="sldNum" sz="quarter" idx="5"/>
          </p:nvPr>
        </p:nvSpPr>
        <p:spPr/>
        <p:txBody>
          <a:bodyPr/>
          <a:lstStyle/>
          <a:p>
            <a:fld id="{923A4BF0-A5CB-4774-8E62-9C8FB37C9466}" type="slidenum">
              <a:rPr lang="en-US" smtClean="0"/>
              <a:t>3</a:t>
            </a:fld>
            <a:endParaRPr lang="en-US"/>
          </a:p>
        </p:txBody>
      </p:sp>
    </p:spTree>
    <p:extLst>
      <p:ext uri="{BB962C8B-B14F-4D97-AF65-F5344CB8AC3E}">
        <p14:creationId xmlns:p14="http://schemas.microsoft.com/office/powerpoint/2010/main" val="3775550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Isabella: Safety scores at Grand View are out highest scores. But we could achieve small wins by adding lights outside. </a:t>
            </a:r>
          </a:p>
        </p:txBody>
      </p:sp>
      <p:sp>
        <p:nvSpPr>
          <p:cNvPr id="4" name="Slide Number Placeholder 3"/>
          <p:cNvSpPr>
            <a:spLocks noGrp="1"/>
          </p:cNvSpPr>
          <p:nvPr>
            <p:ph type="sldNum" sz="quarter" idx="5"/>
          </p:nvPr>
        </p:nvSpPr>
        <p:spPr/>
        <p:txBody>
          <a:bodyPr/>
          <a:lstStyle/>
          <a:p>
            <a:fld id="{923A4BF0-A5CB-4774-8E62-9C8FB37C9466}" type="slidenum">
              <a:t>4</a:t>
            </a:fld>
            <a:endParaRPr lang="en-US"/>
          </a:p>
        </p:txBody>
      </p:sp>
    </p:spTree>
    <p:extLst>
      <p:ext uri="{BB962C8B-B14F-4D97-AF65-F5344CB8AC3E}">
        <p14:creationId xmlns:p14="http://schemas.microsoft.com/office/powerpoint/2010/main" val="2568196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Carly: When we looked at our campus safety scores overall, we found a few trends. The L apartments have the lowest safety score, and Knudsen has the highest safety score. We do not really know why this is the case, but we have inferred it is due to the location of these dorms on campus. Students had some suggestions for us to help improve our safety scores, one student had the simple idea of putting more lights around campus. There were also multiple complaints about campus security, students said they would escalate situations, lacked knowledge of what to do, and </a:t>
            </a:r>
            <a:r>
              <a:rPr lang="en-US">
                <a:ea typeface="Calibri"/>
                <a:cs typeface="Calibri"/>
              </a:rPr>
              <a:t>were not</a:t>
            </a:r>
            <a:r>
              <a:rPr lang="en-US" dirty="0">
                <a:ea typeface="Calibri"/>
                <a:cs typeface="Calibri"/>
              </a:rPr>
              <a:t> the nicest. </a:t>
            </a:r>
          </a:p>
          <a:p>
            <a:endParaRPr lang="en-US" dirty="0">
              <a:ea typeface="Calibri"/>
              <a:cs typeface="Calibri"/>
            </a:endParaRPr>
          </a:p>
          <a:p>
            <a:r>
              <a:rPr lang="en-US" dirty="0">
                <a:ea typeface="Calibri"/>
                <a:cs typeface="Calibri"/>
              </a:rPr>
              <a:t>Isabella: The L apartments are on the edge of campus right up against south-east fourteenth, giving us the idea that students do not feel as safe because </a:t>
            </a:r>
            <a:r>
              <a:rPr lang="en-US" err="1">
                <a:ea typeface="Calibri"/>
                <a:cs typeface="Calibri"/>
              </a:rPr>
              <a:t>th</a:t>
            </a:r>
            <a:r>
              <a:rPr lang="en-US" dirty="0">
                <a:ea typeface="Calibri"/>
                <a:cs typeface="Calibri"/>
              </a:rPr>
              <a:t>ey are right by a major road as well as being on the very edge of campus. The Knudsen dorms are right in the heart of campus, giving us the idea that students feel safer because they are surrounded by Grand View buildings and are not close to a major road. Although we can not move the L apartment to a different </a:t>
            </a:r>
            <a:r>
              <a:rPr lang="en-US">
                <a:ea typeface="Calibri"/>
                <a:cs typeface="Calibri"/>
              </a:rPr>
              <a:t>location,</a:t>
            </a:r>
            <a:r>
              <a:rPr lang="en-US" dirty="0">
                <a:ea typeface="Calibri"/>
                <a:cs typeface="Calibri"/>
              </a:rPr>
              <a:t> we can still make students feel safer by adding more lights around it and in the parking lot. </a:t>
            </a:r>
          </a:p>
        </p:txBody>
      </p:sp>
      <p:sp>
        <p:nvSpPr>
          <p:cNvPr id="4" name="Slide Number Placeholder 3"/>
          <p:cNvSpPr>
            <a:spLocks noGrp="1"/>
          </p:cNvSpPr>
          <p:nvPr>
            <p:ph type="sldNum" sz="quarter" idx="5"/>
          </p:nvPr>
        </p:nvSpPr>
        <p:spPr/>
        <p:txBody>
          <a:bodyPr/>
          <a:lstStyle/>
          <a:p>
            <a:fld id="{923A4BF0-A5CB-4774-8E62-9C8FB37C9466}" type="slidenum">
              <a:t>5</a:t>
            </a:fld>
            <a:endParaRPr lang="en-US"/>
          </a:p>
        </p:txBody>
      </p:sp>
    </p:spTree>
    <p:extLst>
      <p:ext uri="{BB962C8B-B14F-4D97-AF65-F5344CB8AC3E}">
        <p14:creationId xmlns:p14="http://schemas.microsoft.com/office/powerpoint/2010/main" val="1318675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Carly: The facilities around campus are our biggest area for improvement, specificall</a:t>
            </a:r>
            <a:r>
              <a:rPr lang="en-US" dirty="0">
                <a:solidFill>
                  <a:srgbClr val="000000"/>
                </a:solidFill>
                <a:latin typeface="Calibri"/>
                <a:ea typeface="Calibri"/>
                <a:cs typeface="Calibri"/>
              </a:rPr>
              <a:t>y</a:t>
            </a:r>
            <a:r>
              <a:rPr lang="en-US" dirty="0">
                <a:ea typeface="Calibri"/>
                <a:cs typeface="Calibri"/>
              </a:rPr>
              <a:t> the dorms Nielsen and Knudsen. The main concerns about these facilities were the room cleanliness upon move-in and many</a:t>
            </a:r>
            <a:r>
              <a:rPr lang="en-US">
                <a:ea typeface="Calibri"/>
                <a:cs typeface="Calibri"/>
              </a:rPr>
              <a:t> issues with </a:t>
            </a:r>
            <a:r>
              <a:rPr lang="en-US" err="1">
                <a:ea typeface="Calibri"/>
                <a:cs typeface="Calibri"/>
              </a:rPr>
              <a:t>laundr</a:t>
            </a:r>
            <a:r>
              <a:rPr lang="en-US" dirty="0">
                <a:ea typeface="Calibri"/>
                <a:cs typeface="Calibri"/>
              </a:rPr>
              <a:t>y machines.</a:t>
            </a:r>
          </a:p>
        </p:txBody>
      </p:sp>
      <p:sp>
        <p:nvSpPr>
          <p:cNvPr id="4" name="Slide Number Placeholder 3"/>
          <p:cNvSpPr>
            <a:spLocks noGrp="1"/>
          </p:cNvSpPr>
          <p:nvPr>
            <p:ph type="sldNum" sz="quarter" idx="5"/>
          </p:nvPr>
        </p:nvSpPr>
        <p:spPr/>
        <p:txBody>
          <a:bodyPr/>
          <a:lstStyle/>
          <a:p>
            <a:fld id="{923A4BF0-A5CB-4774-8E62-9C8FB37C9466}" type="slidenum">
              <a:t>6</a:t>
            </a:fld>
            <a:endParaRPr lang="en-US"/>
          </a:p>
        </p:txBody>
      </p:sp>
    </p:spTree>
    <p:extLst>
      <p:ext uri="{BB962C8B-B14F-4D97-AF65-F5344CB8AC3E}">
        <p14:creationId xmlns:p14="http://schemas.microsoft.com/office/powerpoint/2010/main" val="1333595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Isabella: When reviewing the free form responses within the surveys we found some common themes. Students want free laundry there were countless complaints about the laundry machines always being broken, the overall cleanliness of shared bathrooms, and pests in dorms were what we </a:t>
            </a:r>
            <a:r>
              <a:rPr lang="en-US" dirty="0" err="1">
                <a:ea typeface="Calibri"/>
                <a:cs typeface="Calibri"/>
              </a:rPr>
              <a:t>fou</a:t>
            </a:r>
            <a:r>
              <a:rPr lang="en-US" dirty="0">
                <a:ea typeface="Calibri"/>
                <a:cs typeface="Calibri"/>
              </a:rPr>
              <a:t>nd.</a:t>
            </a:r>
          </a:p>
        </p:txBody>
      </p:sp>
      <p:sp>
        <p:nvSpPr>
          <p:cNvPr id="4" name="Slide Number Placeholder 3"/>
          <p:cNvSpPr>
            <a:spLocks noGrp="1"/>
          </p:cNvSpPr>
          <p:nvPr>
            <p:ph type="sldNum" sz="quarter" idx="5"/>
          </p:nvPr>
        </p:nvSpPr>
        <p:spPr/>
        <p:txBody>
          <a:bodyPr/>
          <a:lstStyle/>
          <a:p>
            <a:fld id="{923A4BF0-A5CB-4774-8E62-9C8FB37C9466}" type="slidenum">
              <a:t>7</a:t>
            </a:fld>
            <a:endParaRPr lang="en-US"/>
          </a:p>
        </p:txBody>
      </p:sp>
    </p:spTree>
    <p:extLst>
      <p:ext uri="{BB962C8B-B14F-4D97-AF65-F5344CB8AC3E}">
        <p14:creationId xmlns:p14="http://schemas.microsoft.com/office/powerpoint/2010/main" val="128130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04F73-B16A-6860-2CEE-5B7CB24F5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C11D5-8BAF-F591-6204-25214BB55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6E6068-BD74-0C7B-FFDE-A1A35EAA0D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E90074-0BCB-4617-98AD-63940243CC71}"/>
              </a:ext>
            </a:extLst>
          </p:cNvPr>
          <p:cNvSpPr>
            <a:spLocks noGrp="1"/>
          </p:cNvSpPr>
          <p:nvPr>
            <p:ph type="sldNum" sz="quarter" idx="5"/>
          </p:nvPr>
        </p:nvSpPr>
        <p:spPr/>
        <p:txBody>
          <a:bodyPr/>
          <a:lstStyle/>
          <a:p>
            <a:fld id="{923A4BF0-A5CB-4774-8E62-9C8FB37C9466}" type="slidenum">
              <a:rPr lang="en-US" smtClean="0"/>
              <a:t>8</a:t>
            </a:fld>
            <a:endParaRPr lang="en-US"/>
          </a:p>
        </p:txBody>
      </p:sp>
    </p:spTree>
    <p:extLst>
      <p:ext uri="{BB962C8B-B14F-4D97-AF65-F5344CB8AC3E}">
        <p14:creationId xmlns:p14="http://schemas.microsoft.com/office/powerpoint/2010/main" val="2917799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3A4BF0-A5CB-4774-8E62-9C8FB37C9466}" type="slidenum">
              <a:rPr lang="en-US" smtClean="0"/>
              <a:t>9</a:t>
            </a:fld>
            <a:endParaRPr lang="en-US"/>
          </a:p>
        </p:txBody>
      </p:sp>
    </p:spTree>
    <p:extLst>
      <p:ext uri="{BB962C8B-B14F-4D97-AF65-F5344CB8AC3E}">
        <p14:creationId xmlns:p14="http://schemas.microsoft.com/office/powerpoint/2010/main" val="1054056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Carly: From looking at the students free form responses we got some more feedback, the main concerns being that laundry is very costly, the laundry machines are often out of order, the dorms are not up to par upon move-in, and the communal bathrooms in Knudsen and </a:t>
            </a:r>
            <a:r>
              <a:rPr lang="en-US" dirty="0" err="1">
                <a:ea typeface="Calibri"/>
                <a:cs typeface="Calibri"/>
              </a:rPr>
              <a:t>Nielse</a:t>
            </a:r>
            <a:r>
              <a:rPr lang="en-US" dirty="0">
                <a:ea typeface="Calibri"/>
                <a:cs typeface="Calibri"/>
              </a:rPr>
              <a:t>n lack the </a:t>
            </a:r>
            <a:r>
              <a:rPr lang="en-US" dirty="0" err="1">
                <a:ea typeface="Calibri"/>
                <a:cs typeface="Calibri"/>
              </a:rPr>
              <a:t>appropariate</a:t>
            </a:r>
            <a:r>
              <a:rPr lang="en-US" dirty="0">
                <a:ea typeface="Calibri"/>
                <a:cs typeface="Calibri"/>
              </a:rPr>
              <a:t> cleanliness.</a:t>
            </a:r>
            <a:endParaRPr lang="en-US" dirty="0"/>
          </a:p>
          <a:p>
            <a:endParaRPr lang="en-US" dirty="0">
              <a:ea typeface="Calibri"/>
              <a:cs typeface="Calibri"/>
            </a:endParaRPr>
          </a:p>
          <a:p>
            <a:r>
              <a:rPr lang="en-US" dirty="0">
                <a:ea typeface="Calibri"/>
                <a:cs typeface="Calibri"/>
              </a:rPr>
              <a:t>Isabella: We have some sugge</a:t>
            </a:r>
            <a:r>
              <a:rPr lang="en-US" dirty="0"/>
              <a:t>stions</a:t>
            </a:r>
            <a:r>
              <a:rPr lang="en-US" dirty="0">
                <a:ea typeface="Calibri"/>
                <a:cs typeface="Calibri"/>
              </a:rPr>
              <a:t> to improve facility scores. Routine maintenance checks on the laundry machines, and free laundry, it could even be built into the housing fee. Ensuring each residence room prior to move-in is up to par. For the communal bathrooms more regularly in-depth cleaning to </a:t>
            </a:r>
            <a:r>
              <a:rPr lang="en-US" dirty="0" err="1">
                <a:ea typeface="Calibri"/>
                <a:cs typeface="Calibri"/>
              </a:rPr>
              <a:t>contian</a:t>
            </a:r>
            <a:r>
              <a:rPr lang="en-US" dirty="0">
                <a:ea typeface="Calibri"/>
                <a:cs typeface="Calibri"/>
              </a:rPr>
              <a:t> odors. Ensuring that the </a:t>
            </a:r>
            <a:r>
              <a:rPr lang="en-US" dirty="0" err="1">
                <a:ea typeface="Calibri"/>
                <a:cs typeface="Calibri"/>
              </a:rPr>
              <a:t>residen</a:t>
            </a:r>
            <a:r>
              <a:rPr lang="en-US" dirty="0">
                <a:ea typeface="Calibri"/>
                <a:cs typeface="Calibri"/>
              </a:rPr>
              <a:t>t assistants are enforcing quiet hours, and students want white-boards in their lounges.</a:t>
            </a:r>
            <a:endParaRPr lang="en-US" dirty="0"/>
          </a:p>
        </p:txBody>
      </p:sp>
      <p:sp>
        <p:nvSpPr>
          <p:cNvPr id="4" name="Slide Number Placeholder 3"/>
          <p:cNvSpPr>
            <a:spLocks noGrp="1"/>
          </p:cNvSpPr>
          <p:nvPr>
            <p:ph type="sldNum" sz="quarter" idx="5"/>
          </p:nvPr>
        </p:nvSpPr>
        <p:spPr/>
        <p:txBody>
          <a:bodyPr/>
          <a:lstStyle/>
          <a:p>
            <a:fld id="{923A4BF0-A5CB-4774-8E62-9C8FB37C9466}" type="slidenum">
              <a:t>12</a:t>
            </a:fld>
            <a:endParaRPr lang="en-US"/>
          </a:p>
        </p:txBody>
      </p:sp>
    </p:spTree>
    <p:extLst>
      <p:ext uri="{BB962C8B-B14F-4D97-AF65-F5344CB8AC3E}">
        <p14:creationId xmlns:p14="http://schemas.microsoft.com/office/powerpoint/2010/main" val="1800692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Carly: Next, is dining experience. Although we do not have a way to score dining </a:t>
            </a:r>
            <a:r>
              <a:rPr lang="en-US" dirty="0" err="1">
                <a:ea typeface="Calibri"/>
                <a:cs typeface="Calibri"/>
              </a:rPr>
              <a:t>experince</a:t>
            </a:r>
            <a:r>
              <a:rPr lang="en-US" dirty="0">
                <a:ea typeface="Calibri"/>
                <a:cs typeface="Calibri"/>
              </a:rPr>
              <a:t>, students still reported several dining ideas and suggestions in their free-form </a:t>
            </a:r>
            <a:r>
              <a:rPr lang="en-US" dirty="0" err="1">
                <a:ea typeface="Calibri"/>
                <a:cs typeface="Calibri"/>
              </a:rPr>
              <a:t>respones</a:t>
            </a:r>
            <a:r>
              <a:rPr lang="en-US" dirty="0">
                <a:ea typeface="Calibri"/>
                <a:cs typeface="Calibri"/>
              </a:rPr>
              <a:t>. </a:t>
            </a:r>
          </a:p>
        </p:txBody>
      </p:sp>
      <p:sp>
        <p:nvSpPr>
          <p:cNvPr id="4" name="Slide Number Placeholder 3"/>
          <p:cNvSpPr>
            <a:spLocks noGrp="1"/>
          </p:cNvSpPr>
          <p:nvPr>
            <p:ph type="sldNum" sz="quarter" idx="5"/>
          </p:nvPr>
        </p:nvSpPr>
        <p:spPr/>
        <p:txBody>
          <a:bodyPr/>
          <a:lstStyle/>
          <a:p>
            <a:fld id="{923A4BF0-A5CB-4774-8E62-9C8FB37C9466}" type="slidenum">
              <a:t>13</a:t>
            </a:fld>
            <a:endParaRPr lang="en-US"/>
          </a:p>
        </p:txBody>
      </p:sp>
    </p:spTree>
    <p:extLst>
      <p:ext uri="{BB962C8B-B14F-4D97-AF65-F5344CB8AC3E}">
        <p14:creationId xmlns:p14="http://schemas.microsoft.com/office/powerpoint/2010/main" val="3881019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Isabella: Students want more fresh fruits and vegetables, fresh meat options, a greater variety for </a:t>
            </a:r>
            <a:r>
              <a:rPr lang="en-US">
                <a:ea typeface="Calibri"/>
                <a:cs typeface="Calibri"/>
              </a:rPr>
              <a:t>students</a:t>
            </a:r>
            <a:r>
              <a:rPr lang="en-US" dirty="0">
                <a:ea typeface="Calibri"/>
                <a:cs typeface="Calibri"/>
              </a:rPr>
              <a:t> with dietary restrictions, ensuring that the food meets safety standards, and many students complained that the food options are very repetitive.</a:t>
            </a:r>
          </a:p>
        </p:txBody>
      </p:sp>
      <p:sp>
        <p:nvSpPr>
          <p:cNvPr id="4" name="Slide Number Placeholder 3"/>
          <p:cNvSpPr>
            <a:spLocks noGrp="1"/>
          </p:cNvSpPr>
          <p:nvPr>
            <p:ph type="sldNum" sz="quarter" idx="5"/>
          </p:nvPr>
        </p:nvSpPr>
        <p:spPr/>
        <p:txBody>
          <a:bodyPr/>
          <a:lstStyle/>
          <a:p>
            <a:fld id="{923A4BF0-A5CB-4774-8E62-9C8FB37C9466}" type="slidenum">
              <a:t>14</a:t>
            </a:fld>
            <a:endParaRPr lang="en-US"/>
          </a:p>
        </p:txBody>
      </p:sp>
    </p:spTree>
    <p:extLst>
      <p:ext uri="{BB962C8B-B14F-4D97-AF65-F5344CB8AC3E}">
        <p14:creationId xmlns:p14="http://schemas.microsoft.com/office/powerpoint/2010/main" val="3101049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Carly: The dining experience free-form </a:t>
            </a:r>
            <a:r>
              <a:rPr lang="en-US">
                <a:ea typeface="Calibri"/>
                <a:cs typeface="Calibri"/>
              </a:rPr>
              <a:t>responses</a:t>
            </a:r>
            <a:r>
              <a:rPr lang="en-US" dirty="0">
                <a:ea typeface="Calibri"/>
                <a:cs typeface="Calibri"/>
              </a:rPr>
              <a:t> indicated numerous things, that the staff are very friendly and good </a:t>
            </a:r>
            <a:r>
              <a:rPr lang="en-US" err="1">
                <a:ea typeface="Calibri"/>
                <a:cs typeface="Calibri"/>
              </a:rPr>
              <a:t>ov</a:t>
            </a:r>
            <a:r>
              <a:rPr lang="en-US" dirty="0">
                <a:ea typeface="Calibri"/>
                <a:cs typeface="Calibri"/>
              </a:rPr>
              <a:t>erall improvements from year-to-year, there is not enough fresh protein options, the healthy options are dull and lack variety, the meal options are repetitive, and students want more dining hall hours, such as breakfast being served an hour later. </a:t>
            </a:r>
          </a:p>
          <a:p>
            <a:endParaRPr lang="en-US" dirty="0">
              <a:ea typeface="Calibri"/>
              <a:cs typeface="Calibri"/>
            </a:endParaRPr>
          </a:p>
          <a:p>
            <a:r>
              <a:rPr lang="en-US" dirty="0">
                <a:ea typeface="Calibri"/>
                <a:cs typeface="Calibri"/>
              </a:rPr>
              <a:t>Isabella: We have numerous suggestions to improve the dining hall experience. First, we can add more fresh fruits, vegetables, and mean, extend breakfast hours by and addition hall, then have more meal options such as tacos, healthy rice bowls, daily chicken nuggets, chicken wings, healthy potatoes, and overall, a more diverse selection of foods. </a:t>
            </a:r>
          </a:p>
        </p:txBody>
      </p:sp>
      <p:sp>
        <p:nvSpPr>
          <p:cNvPr id="4" name="Slide Number Placeholder 3"/>
          <p:cNvSpPr>
            <a:spLocks noGrp="1"/>
          </p:cNvSpPr>
          <p:nvPr>
            <p:ph type="sldNum" sz="quarter" idx="5"/>
          </p:nvPr>
        </p:nvSpPr>
        <p:spPr/>
        <p:txBody>
          <a:bodyPr/>
          <a:lstStyle/>
          <a:p>
            <a:fld id="{923A4BF0-A5CB-4774-8E62-9C8FB37C9466}" type="slidenum">
              <a:t>15</a:t>
            </a:fld>
            <a:endParaRPr lang="en-US"/>
          </a:p>
        </p:txBody>
      </p:sp>
    </p:spTree>
    <p:extLst>
      <p:ext uri="{BB962C8B-B14F-4D97-AF65-F5344CB8AC3E}">
        <p14:creationId xmlns:p14="http://schemas.microsoft.com/office/powerpoint/2010/main" val="18273595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Carly: Belonging and community around campus is great. Students have a strong sense of belonging on campus, driving students to connect through events, sports, and classes.</a:t>
            </a:r>
          </a:p>
        </p:txBody>
      </p:sp>
      <p:sp>
        <p:nvSpPr>
          <p:cNvPr id="4" name="Slide Number Placeholder 3"/>
          <p:cNvSpPr>
            <a:spLocks noGrp="1"/>
          </p:cNvSpPr>
          <p:nvPr>
            <p:ph type="sldNum" sz="quarter" idx="5"/>
          </p:nvPr>
        </p:nvSpPr>
        <p:spPr/>
        <p:txBody>
          <a:bodyPr/>
          <a:lstStyle/>
          <a:p>
            <a:fld id="{923A4BF0-A5CB-4774-8E62-9C8FB37C9466}" type="slidenum">
              <a:t>16</a:t>
            </a:fld>
            <a:endParaRPr lang="en-US"/>
          </a:p>
        </p:txBody>
      </p:sp>
    </p:spTree>
    <p:extLst>
      <p:ext uri="{BB962C8B-B14F-4D97-AF65-F5344CB8AC3E}">
        <p14:creationId xmlns:p14="http://schemas.microsoft.com/office/powerpoint/2010/main" val="2247782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Isabella: Some suggestions from students is that they want to see more SAC / REC programs, bingo, weekend events, ping pong, and just overall more fun events!</a:t>
            </a:r>
          </a:p>
        </p:txBody>
      </p:sp>
      <p:sp>
        <p:nvSpPr>
          <p:cNvPr id="4" name="Slide Number Placeholder 3"/>
          <p:cNvSpPr>
            <a:spLocks noGrp="1"/>
          </p:cNvSpPr>
          <p:nvPr>
            <p:ph type="sldNum" sz="quarter" idx="5"/>
          </p:nvPr>
        </p:nvSpPr>
        <p:spPr/>
        <p:txBody>
          <a:bodyPr/>
          <a:lstStyle/>
          <a:p>
            <a:fld id="{923A4BF0-A5CB-4774-8E62-9C8FB37C9466}" type="slidenum">
              <a:t>17</a:t>
            </a:fld>
            <a:endParaRPr lang="en-US"/>
          </a:p>
        </p:txBody>
      </p:sp>
    </p:spTree>
    <p:extLst>
      <p:ext uri="{BB962C8B-B14F-4D97-AF65-F5344CB8AC3E}">
        <p14:creationId xmlns:p14="http://schemas.microsoft.com/office/powerpoint/2010/main" val="858827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Isabella: Some common themes we found in the data is that having a mentor on campus shows the highest association with community belonging. </a:t>
            </a:r>
            <a:r>
              <a:rPr lang="en-US">
                <a:ea typeface="Calibri"/>
                <a:cs typeface="Calibri"/>
              </a:rPr>
              <a:t>Residential</a:t>
            </a:r>
            <a:r>
              <a:rPr lang="en-US" dirty="0">
                <a:ea typeface="Calibri"/>
                <a:cs typeface="Calibri"/>
              </a:rPr>
              <a:t> community experience is a major driver in connection, REC, SAC, and intramurals events and participations are strongly associated with higher community sores, </a:t>
            </a:r>
            <a:r>
              <a:rPr lang="en-US" dirty="0" err="1">
                <a:ea typeface="Calibri"/>
                <a:cs typeface="Calibri"/>
              </a:rPr>
              <a:t>and </a:t>
            </a:r>
            <a:r>
              <a:rPr lang="en-US" dirty="0">
                <a:ea typeface="Calibri"/>
                <a:cs typeface="Calibri"/>
              </a:rPr>
              <a:t>athletic participation is the dominant connection pathway due to both strong scores and high participation.</a:t>
            </a:r>
          </a:p>
          <a:p>
            <a:endParaRPr lang="en-US" dirty="0">
              <a:ea typeface="Calibri"/>
              <a:cs typeface="Calibri"/>
            </a:endParaRPr>
          </a:p>
          <a:p>
            <a:r>
              <a:rPr lang="en-US" dirty="0">
                <a:ea typeface="Calibri"/>
                <a:cs typeface="Calibri"/>
              </a:rPr>
              <a:t>Carly: Some suggestions we have are that there should be more mentorship opportunities for underclassmen and transfer students, REC / SAC events should be available during the weekend and add ping pong tables in the dorms. </a:t>
            </a:r>
          </a:p>
        </p:txBody>
      </p:sp>
      <p:sp>
        <p:nvSpPr>
          <p:cNvPr id="4" name="Slide Number Placeholder 3"/>
          <p:cNvSpPr>
            <a:spLocks noGrp="1"/>
          </p:cNvSpPr>
          <p:nvPr>
            <p:ph type="sldNum" sz="quarter" idx="5"/>
          </p:nvPr>
        </p:nvSpPr>
        <p:spPr/>
        <p:txBody>
          <a:bodyPr/>
          <a:lstStyle/>
          <a:p>
            <a:fld id="{923A4BF0-A5CB-4774-8E62-9C8FB37C9466}" type="slidenum">
              <a:t>18</a:t>
            </a:fld>
            <a:endParaRPr lang="en-US"/>
          </a:p>
        </p:txBody>
      </p:sp>
    </p:spTree>
    <p:extLst>
      <p:ext uri="{BB962C8B-B14F-4D97-AF65-F5344CB8AC3E}">
        <p14:creationId xmlns:p14="http://schemas.microsoft.com/office/powerpoint/2010/main" val="2949374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Isabella: The key takeaways is that safety is a major strength on campus, with only </a:t>
            </a:r>
            <a:r>
              <a:rPr lang="en-US" err="1">
                <a:ea typeface="Calibri"/>
                <a:cs typeface="Calibri"/>
              </a:rPr>
              <a:t>mino</a:t>
            </a:r>
            <a:r>
              <a:rPr lang="en-US" dirty="0">
                <a:ea typeface="Calibri"/>
                <a:cs typeface="Calibri"/>
              </a:rPr>
              <a:t>r improvements and facilities are the biggest opportunity for improvement, especially the cleanliness and laundry reliabilit</a:t>
            </a:r>
            <a:r>
              <a:rPr lang="en-US">
                <a:ea typeface="Calibri"/>
                <a:cs typeface="Calibri"/>
              </a:rPr>
              <a:t>y. </a:t>
            </a:r>
            <a:endParaRPr lang="en-US" dirty="0">
              <a:ea typeface="Calibri"/>
              <a:cs typeface="Calibri"/>
            </a:endParaRPr>
          </a:p>
          <a:p>
            <a:endParaRPr lang="en-US" dirty="0">
              <a:ea typeface="Calibri"/>
              <a:cs typeface="Calibri"/>
            </a:endParaRPr>
          </a:p>
          <a:p>
            <a:r>
              <a:rPr lang="en-US" dirty="0">
                <a:ea typeface="Calibri"/>
                <a:cs typeface="Calibri"/>
              </a:rPr>
              <a:t>Carly: Dining can be enhanced with more variety, healthier options, and extended hours, and a strong sense of community exists, driven by events, athletics, and mentorship opportunities.</a:t>
            </a:r>
          </a:p>
        </p:txBody>
      </p:sp>
      <p:sp>
        <p:nvSpPr>
          <p:cNvPr id="4" name="Slide Number Placeholder 3"/>
          <p:cNvSpPr>
            <a:spLocks noGrp="1"/>
          </p:cNvSpPr>
          <p:nvPr>
            <p:ph type="sldNum" sz="quarter" idx="5"/>
          </p:nvPr>
        </p:nvSpPr>
        <p:spPr/>
        <p:txBody>
          <a:bodyPr/>
          <a:lstStyle/>
          <a:p>
            <a:fld id="{923A4BF0-A5CB-4774-8E62-9C8FB37C9466}" type="slidenum">
              <a:t>19</a:t>
            </a:fld>
            <a:endParaRPr lang="en-US"/>
          </a:p>
        </p:txBody>
      </p:sp>
    </p:spTree>
    <p:extLst>
      <p:ext uri="{BB962C8B-B14F-4D97-AF65-F5344CB8AC3E}">
        <p14:creationId xmlns:p14="http://schemas.microsoft.com/office/powerpoint/2010/main" val="22587360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Isabella: Does </a:t>
            </a:r>
            <a:r>
              <a:rPr lang="en-US">
                <a:ea typeface="Calibri"/>
                <a:cs typeface="Calibri"/>
              </a:rPr>
              <a:t>anyone have any questions? </a:t>
            </a:r>
            <a:endParaRPr lang="en-US" dirty="0">
              <a:ea typeface="Calibri"/>
              <a:cs typeface="Calibri"/>
            </a:endParaRPr>
          </a:p>
          <a:p>
            <a:endParaRPr lang="en-US" dirty="0">
              <a:ea typeface="Calibri"/>
              <a:cs typeface="Calibri"/>
            </a:endParaRPr>
          </a:p>
          <a:p>
            <a:r>
              <a:rPr lang="en-US">
                <a:ea typeface="Calibri"/>
                <a:cs typeface="Calibri"/>
              </a:rPr>
              <a:t>Carly: Thank you!</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923A4BF0-A5CB-4774-8E62-9C8FB37C9466}" type="slidenum">
              <a:t>22</a:t>
            </a:fld>
            <a:endParaRPr lang="en-US"/>
          </a:p>
        </p:txBody>
      </p:sp>
    </p:spTree>
    <p:extLst>
      <p:ext uri="{BB962C8B-B14F-4D97-AF65-F5344CB8AC3E}">
        <p14:creationId xmlns:p14="http://schemas.microsoft.com/office/powerpoint/2010/main" val="12367751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3658038"/>
            <a:ext cx="12192000" cy="875039"/>
          </a:xfrm>
        </p:spPr>
        <p:txBody>
          <a:bodyPr>
            <a:normAutofit/>
          </a:bodyPr>
          <a:lstStyle>
            <a:lvl1pPr algn="ctr">
              <a:defRPr sz="2800" b="1"/>
            </a:lvl1pPr>
          </a:lstStyle>
          <a:p>
            <a:r>
              <a:rPr lang="en-US"/>
              <a:t>Click to edit presentation name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75134" y="5044959"/>
            <a:ext cx="5438684" cy="1278091"/>
          </a:xfrm>
          <a:prstGeom prst="rect">
            <a:avLst/>
          </a:prstGeom>
        </p:spPr>
      </p:pic>
      <p:pic>
        <p:nvPicPr>
          <p:cNvPr id="5" name="Picture 4"/>
          <p:cNvPicPr>
            <a:picLocks noChangeAspect="1"/>
          </p:cNvPicPr>
          <p:nvPr userDrawn="1"/>
        </p:nvPicPr>
        <p:blipFill rotWithShape="1">
          <a:blip r:embed="rId3">
            <a:extLst>
              <a:ext uri="{28A0092B-C50C-407E-A947-70E740481C1C}">
                <a14:useLocalDpi xmlns:a14="http://schemas.microsoft.com/office/drawing/2010/main" val="0"/>
              </a:ext>
            </a:extLst>
          </a:blip>
          <a:srcRect t="27273" b="29772"/>
          <a:stretch/>
        </p:blipFill>
        <p:spPr>
          <a:xfrm>
            <a:off x="0" y="-1"/>
            <a:ext cx="12192000" cy="3491345"/>
          </a:xfrm>
          <a:prstGeom prst="rect">
            <a:avLst/>
          </a:prstGeom>
        </p:spPr>
      </p:pic>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69524"/>
          <a:stretch/>
        </p:blipFill>
        <p:spPr>
          <a:xfrm>
            <a:off x="0" y="6531428"/>
            <a:ext cx="12188952" cy="309555"/>
          </a:xfrm>
          <a:prstGeom prst="rect">
            <a:avLst/>
          </a:prstGeom>
        </p:spPr>
      </p:pic>
    </p:spTree>
    <p:extLst>
      <p:ext uri="{BB962C8B-B14F-4D97-AF65-F5344CB8AC3E}">
        <p14:creationId xmlns:p14="http://schemas.microsoft.com/office/powerpoint/2010/main" val="32903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atin typeface="Helvetica" pitchFamily="34" charset="0"/>
              </a:defRPr>
            </a:lvl1pPr>
          </a:lstStyle>
          <a:p>
            <a:r>
              <a:rPr lang="en-US"/>
              <a:t>Click to add Slide Title</a:t>
            </a:r>
          </a:p>
        </p:txBody>
      </p:sp>
      <p:sp>
        <p:nvSpPr>
          <p:cNvPr id="3" name="Content Placeholder 2"/>
          <p:cNvSpPr>
            <a:spLocks noGrp="1"/>
          </p:cNvSpPr>
          <p:nvPr>
            <p:ph idx="1"/>
          </p:nvPr>
        </p:nvSpPr>
        <p:spPr>
          <a:xfrm>
            <a:off x="838200" y="1825625"/>
            <a:ext cx="10515600" cy="3588204"/>
          </a:xfrm>
        </p:spPr>
        <p:txBody>
          <a:bodyPr/>
          <a:lstStyle>
            <a:lvl1pPr>
              <a:defRPr>
                <a:latin typeface="Helvetica" pitchFamily="34" charset="0"/>
              </a:defRPr>
            </a:lvl1pPr>
            <a:lvl2pPr>
              <a:defRPr>
                <a:latin typeface="Helvetica" pitchFamily="34" charset="0"/>
              </a:defRPr>
            </a:lvl2pPr>
            <a:lvl3pPr>
              <a:defRPr>
                <a:latin typeface="Helvetica" pitchFamily="34" charset="0"/>
              </a:defRPr>
            </a:lvl3pPr>
            <a:lvl4pPr>
              <a:defRPr>
                <a:latin typeface="Helvetica" pitchFamily="34" charset="0"/>
              </a:defRPr>
            </a:lvl4pPr>
            <a:lvl5pPr>
              <a:defRPr>
                <a:latin typeface="Helvetic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825238"/>
            <a:ext cx="12188952" cy="1015746"/>
          </a:xfrm>
          <a:prstGeom prst="rect">
            <a:avLst/>
          </a:prstGeom>
        </p:spPr>
      </p:pic>
    </p:spTree>
    <p:extLst>
      <p:ext uri="{BB962C8B-B14F-4D97-AF65-F5344CB8AC3E}">
        <p14:creationId xmlns:p14="http://schemas.microsoft.com/office/powerpoint/2010/main" val="2351075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Helvetica" pitchFamily="34" charset="0"/>
              </a:defRPr>
            </a:lvl1pPr>
          </a:lstStyle>
          <a:p>
            <a:r>
              <a:rPr lang="en-US"/>
              <a:t>Click to edit Master title style</a:t>
            </a:r>
          </a:p>
        </p:txBody>
      </p:sp>
      <p:sp>
        <p:nvSpPr>
          <p:cNvPr id="3" name="Content Placeholder 2"/>
          <p:cNvSpPr>
            <a:spLocks noGrp="1"/>
          </p:cNvSpPr>
          <p:nvPr>
            <p:ph sz="half" idx="1"/>
          </p:nvPr>
        </p:nvSpPr>
        <p:spPr>
          <a:xfrm>
            <a:off x="838200" y="1825625"/>
            <a:ext cx="5181600" cy="3544661"/>
          </a:xfrm>
        </p:spPr>
        <p:txBody>
          <a:bodyPr/>
          <a:lstStyle>
            <a:lvl1pPr>
              <a:defRPr>
                <a:latin typeface="Helvetica" pitchFamily="34" charset="0"/>
              </a:defRPr>
            </a:lvl1pPr>
            <a:lvl2pPr>
              <a:defRPr>
                <a:latin typeface="Helvetica" pitchFamily="34" charset="0"/>
              </a:defRPr>
            </a:lvl2pPr>
            <a:lvl3pPr>
              <a:defRPr>
                <a:latin typeface="Helvetica" pitchFamily="34" charset="0"/>
              </a:defRPr>
            </a:lvl3pPr>
            <a:lvl4pPr>
              <a:defRPr>
                <a:latin typeface="Helvetica" pitchFamily="34" charset="0"/>
              </a:defRPr>
            </a:lvl4pPr>
            <a:lvl5pPr>
              <a:defRPr>
                <a:latin typeface="Helvetic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3544661"/>
          </a:xfrm>
        </p:spPr>
        <p:txBody>
          <a:bodyPr/>
          <a:lstStyle>
            <a:lvl1pPr>
              <a:defRPr>
                <a:latin typeface="Helvetica" pitchFamily="34" charset="0"/>
              </a:defRPr>
            </a:lvl1pPr>
            <a:lvl2pPr>
              <a:defRPr>
                <a:latin typeface="Helvetica" pitchFamily="34" charset="0"/>
              </a:defRPr>
            </a:lvl2pPr>
            <a:lvl3pPr>
              <a:defRPr>
                <a:latin typeface="Helvetica" pitchFamily="34" charset="0"/>
              </a:defRPr>
            </a:lvl3pPr>
            <a:lvl4pPr>
              <a:defRPr>
                <a:latin typeface="Helvetica" pitchFamily="34" charset="0"/>
              </a:defRPr>
            </a:lvl4pPr>
            <a:lvl5pPr>
              <a:defRPr>
                <a:latin typeface="Helvetic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825238"/>
            <a:ext cx="12188952" cy="1015746"/>
          </a:xfrm>
          <a:prstGeom prst="rect">
            <a:avLst/>
          </a:prstGeom>
        </p:spPr>
      </p:pic>
    </p:spTree>
    <p:extLst>
      <p:ext uri="{BB962C8B-B14F-4D97-AF65-F5344CB8AC3E}">
        <p14:creationId xmlns:p14="http://schemas.microsoft.com/office/powerpoint/2010/main" val="3010984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b="1">
                <a:latin typeface="Helvetica" pitchFamily="34" charset="0"/>
              </a:defRPr>
            </a:lvl1p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Helvetica"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2952296"/>
          </a:xfrm>
        </p:spPr>
        <p:txBody>
          <a:bodyPr/>
          <a:lstStyle>
            <a:lvl1pPr>
              <a:defRPr>
                <a:latin typeface="Helvetica" pitchFamily="34" charset="0"/>
              </a:defRPr>
            </a:lvl1pPr>
            <a:lvl2pPr>
              <a:defRPr>
                <a:latin typeface="Helvetica" pitchFamily="34" charset="0"/>
              </a:defRPr>
            </a:lvl2pPr>
            <a:lvl3pPr>
              <a:defRPr>
                <a:latin typeface="Helvetica" pitchFamily="34" charset="0"/>
              </a:defRPr>
            </a:lvl3pPr>
            <a:lvl4pPr>
              <a:defRPr>
                <a:latin typeface="Helvetica" pitchFamily="34" charset="0"/>
              </a:defRPr>
            </a:lvl4pPr>
            <a:lvl5pPr>
              <a:defRPr>
                <a:latin typeface="Helvetic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Helvetica"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2952296"/>
          </a:xfrm>
        </p:spPr>
        <p:txBody>
          <a:bodyPr/>
          <a:lstStyle>
            <a:lvl1pPr>
              <a:defRPr>
                <a:latin typeface="Helvetica" pitchFamily="34" charset="0"/>
              </a:defRPr>
            </a:lvl1pPr>
            <a:lvl2pPr>
              <a:defRPr>
                <a:latin typeface="Helvetica" pitchFamily="34" charset="0"/>
              </a:defRPr>
            </a:lvl2pPr>
            <a:lvl3pPr>
              <a:defRPr>
                <a:latin typeface="Helvetica" pitchFamily="34" charset="0"/>
              </a:defRPr>
            </a:lvl3pPr>
            <a:lvl4pPr>
              <a:defRPr>
                <a:latin typeface="Helvetica" pitchFamily="34" charset="0"/>
              </a:defRPr>
            </a:lvl4pPr>
            <a:lvl5pPr>
              <a:defRPr>
                <a:latin typeface="Helvetic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825238"/>
            <a:ext cx="12188952" cy="1015746"/>
          </a:xfrm>
          <a:prstGeom prst="rect">
            <a:avLst/>
          </a:prstGeom>
        </p:spPr>
      </p:pic>
    </p:spTree>
    <p:extLst>
      <p:ext uri="{BB962C8B-B14F-4D97-AF65-F5344CB8AC3E}">
        <p14:creationId xmlns:p14="http://schemas.microsoft.com/office/powerpoint/2010/main" val="1628044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825238"/>
            <a:ext cx="12188952" cy="1015746"/>
          </a:xfrm>
          <a:prstGeom prst="rect">
            <a:avLst/>
          </a:prstGeom>
        </p:spPr>
      </p:pic>
    </p:spTree>
    <p:extLst>
      <p:ext uri="{BB962C8B-B14F-4D97-AF65-F5344CB8AC3E}">
        <p14:creationId xmlns:p14="http://schemas.microsoft.com/office/powerpoint/2010/main" val="46919926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86C06C-295A-4468-8AB1-AE1B99EF3A46}" type="slidenum">
              <a:rPr lang="en-US" smtClean="0"/>
              <a:t>‹#›</a:t>
            </a:fld>
            <a:endParaRPr lang="en-US"/>
          </a:p>
        </p:txBody>
      </p:sp>
    </p:spTree>
    <p:extLst>
      <p:ext uri="{BB962C8B-B14F-4D97-AF65-F5344CB8AC3E}">
        <p14:creationId xmlns:p14="http://schemas.microsoft.com/office/powerpoint/2010/main" val="3262872897"/>
      </p:ext>
    </p:extLst>
  </p:cSld>
  <p:clrMap bg1="lt1" tx1="dk1" bg2="lt2" tx2="dk2" accent1="accent1" accent2="accent2" accent3="accent3" accent4="accent4" accent5="accent5" accent6="accent6" hlink="hlink" folHlink="folHlink"/>
  <p:sldLayoutIdLst>
    <p:sldLayoutId id="2147483656" r:id="rId1"/>
    <p:sldLayoutId id="2147483650" r:id="rId2"/>
    <p:sldLayoutId id="2147483652" r:id="rId3"/>
    <p:sldLayoutId id="2147483653" r:id="rId4"/>
    <p:sldLayoutId id="2147483655" r:id="rId5"/>
  </p:sldLayoutIdLst>
  <p:txStyles>
    <p:titleStyle>
      <a:lvl1pPr algn="l" defTabSz="914400" rtl="0" eaLnBrk="1" latinLnBrk="0" hangingPunct="1">
        <a:lnSpc>
          <a:spcPct val="90000"/>
        </a:lnSpc>
        <a:spcBef>
          <a:spcPct val="0"/>
        </a:spcBef>
        <a:buNone/>
        <a:defRPr sz="4400" b="1" kern="1200">
          <a:solidFill>
            <a:schemeClr val="tx1"/>
          </a:solidFill>
          <a:latin typeface="Helvetica" pitchFamily="34" charset="0"/>
          <a:ea typeface="+mj-ea"/>
          <a:cs typeface="+mj-cs"/>
        </a:defRPr>
      </a:lvl1pPr>
    </p:titleStyle>
    <p:body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chart" Target="../charts/chart3.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0" dirty="0"/>
              <a:t>Resident Life Survey Analysis</a:t>
            </a:r>
            <a:br>
              <a:rPr lang="en-US" sz="3600" b="0" dirty="0"/>
            </a:br>
            <a:r>
              <a:rPr lang="en-US" sz="1100" b="0" dirty="0"/>
              <a:t>Isabella Pastorino and Carly Richards</a:t>
            </a:r>
            <a:br>
              <a:rPr lang="en-US" sz="1100" b="0" dirty="0"/>
            </a:br>
            <a:r>
              <a:rPr lang="en-US" sz="1100" b="0" dirty="0"/>
              <a:t>04/14/2026</a:t>
            </a:r>
            <a:endParaRPr lang="en-US" sz="3600" b="0" dirty="0"/>
          </a:p>
        </p:txBody>
      </p:sp>
    </p:spTree>
    <p:extLst>
      <p:ext uri="{BB962C8B-B14F-4D97-AF65-F5344CB8AC3E}">
        <p14:creationId xmlns:p14="http://schemas.microsoft.com/office/powerpoint/2010/main" val="3038141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latin typeface="Helvetica"/>
                <a:cs typeface="Helvetica"/>
              </a:rPr>
              <a:t>Agenda</a:t>
            </a:r>
            <a:endParaRPr lang="en-US" b="0" dirty="0">
              <a:cs typeface="Helvetica"/>
            </a:endParaRPr>
          </a:p>
        </p:txBody>
      </p:sp>
      <p:sp>
        <p:nvSpPr>
          <p:cNvPr id="3" name="Content Placeholder 2"/>
          <p:cNvSpPr>
            <a:spLocks noGrp="1"/>
          </p:cNvSpPr>
          <p:nvPr>
            <p:ph idx="1"/>
          </p:nvPr>
        </p:nvSpPr>
        <p:spPr/>
        <p:txBody>
          <a:bodyPr>
            <a:normAutofit fontScale="92500" lnSpcReduction="10000"/>
          </a:bodyPr>
          <a:lstStyle/>
          <a:p>
            <a:pPr marL="457200" indent="-457200">
              <a:buFont typeface="Arial" panose="020B0604020202020204" pitchFamily="34" charset="0"/>
              <a:buChar char="•"/>
            </a:pPr>
            <a:r>
              <a:rPr lang="en-US" dirty="0"/>
              <a:t>Survey Responsiveness</a:t>
            </a:r>
          </a:p>
          <a:p>
            <a:pPr marL="457200" indent="-457200">
              <a:buFont typeface="Arial" panose="020B0604020202020204" pitchFamily="34" charset="0"/>
              <a:buChar char="•"/>
            </a:pPr>
            <a:r>
              <a:rPr lang="en-US" dirty="0"/>
              <a:t>Safety </a:t>
            </a:r>
          </a:p>
          <a:p>
            <a:pPr marL="457200" indent="-457200">
              <a:buFont typeface="Arial" panose="020B0604020202020204" pitchFamily="34" charset="0"/>
              <a:buChar char="•"/>
            </a:pPr>
            <a:r>
              <a:rPr lang="en-US" dirty="0"/>
              <a:t>Facilities </a:t>
            </a:r>
          </a:p>
          <a:p>
            <a:pPr marL="457200" indent="-457200">
              <a:buFont typeface="Arial" panose="020B0604020202020204" pitchFamily="34" charset="0"/>
              <a:buChar char="•"/>
            </a:pPr>
            <a:r>
              <a:rPr lang="en-US" dirty="0"/>
              <a:t>Dining Experience</a:t>
            </a:r>
          </a:p>
          <a:p>
            <a:pPr marL="457200" indent="-457200">
              <a:buFont typeface="Arial" panose="020B0604020202020204" pitchFamily="34" charset="0"/>
              <a:buChar char="•"/>
            </a:pPr>
            <a:r>
              <a:rPr lang="en-US" dirty="0"/>
              <a:t>Belonging and Community</a:t>
            </a:r>
          </a:p>
          <a:p>
            <a:pPr marL="457200" indent="-457200">
              <a:buFont typeface="Arial" panose="020B0604020202020204" pitchFamily="34" charset="0"/>
              <a:buChar char="•"/>
            </a:pPr>
            <a:r>
              <a:rPr lang="en-US" dirty="0"/>
              <a:t>Key Takeaways </a:t>
            </a:r>
          </a:p>
          <a:p>
            <a:pPr marL="457200" indent="-457200">
              <a:buFont typeface="Arial" panose="020B0604020202020204" pitchFamily="34" charset="0"/>
              <a:buChar char="•"/>
            </a:pPr>
            <a:r>
              <a:rPr lang="en-US" dirty="0"/>
              <a:t>Suggestions</a:t>
            </a:r>
          </a:p>
          <a:p>
            <a:pPr marL="457200" indent="-457200">
              <a:buFont typeface="Arial" panose="020B0604020202020204" pitchFamily="34" charset="0"/>
              <a:buChar char="•"/>
            </a:pPr>
            <a:r>
              <a:rPr lang="en-US" dirty="0"/>
              <a:t>Questions</a:t>
            </a:r>
          </a:p>
        </p:txBody>
      </p:sp>
    </p:spTree>
    <p:extLst>
      <p:ext uri="{BB962C8B-B14F-4D97-AF65-F5344CB8AC3E}">
        <p14:creationId xmlns:p14="http://schemas.microsoft.com/office/powerpoint/2010/main" val="955004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08700-DCC8-84DE-0D24-4BAC4A12E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B441D-271E-0239-7246-883545299504}"/>
              </a:ext>
            </a:extLst>
          </p:cNvPr>
          <p:cNvSpPr>
            <a:spLocks noGrp="1"/>
          </p:cNvSpPr>
          <p:nvPr>
            <p:ph type="title"/>
          </p:nvPr>
        </p:nvSpPr>
        <p:spPr>
          <a:xfrm>
            <a:off x="838200" y="289221"/>
            <a:ext cx="10515600" cy="1325563"/>
          </a:xfrm>
        </p:spPr>
        <p:txBody>
          <a:bodyPr/>
          <a:lstStyle/>
          <a:p>
            <a:r>
              <a:rPr lang="en-US" dirty="0">
                <a:solidFill>
                  <a:srgbClr val="43444C"/>
                </a:solidFill>
                <a:latin typeface="Helvetica"/>
                <a:cs typeface="Helvetica"/>
              </a:rPr>
              <a:t>Response Rates </a:t>
            </a:r>
            <a:br>
              <a:rPr lang="en-US" dirty="0">
                <a:solidFill>
                  <a:srgbClr val="C00000"/>
                </a:solidFill>
                <a:latin typeface="Helvetica"/>
                <a:cs typeface="Helvetica"/>
              </a:rPr>
            </a:br>
            <a:r>
              <a:rPr lang="en-US" sz="3200" b="0" dirty="0">
                <a:solidFill>
                  <a:srgbClr val="43444C"/>
                </a:solidFill>
                <a:latin typeface="Helvetica"/>
                <a:cs typeface="Helvetica"/>
              </a:rPr>
              <a:t>by Academic Year</a:t>
            </a:r>
            <a:endParaRPr lang="en-US" sz="3200" b="0" dirty="0">
              <a:solidFill>
                <a:srgbClr val="43444C"/>
              </a:solidFill>
              <a:cs typeface="Helvetica"/>
            </a:endParaRPr>
          </a:p>
        </p:txBody>
      </p:sp>
      <p:graphicFrame>
        <p:nvGraphicFramePr>
          <p:cNvPr id="5" name="Chart 4">
            <a:extLst>
              <a:ext uri="{FF2B5EF4-FFF2-40B4-BE49-F238E27FC236}">
                <a16:creationId xmlns:a16="http://schemas.microsoft.com/office/drawing/2014/main" id="{6EBC4F68-C224-A53F-DEB5-1DAB793A0978}"/>
              </a:ext>
            </a:extLst>
          </p:cNvPr>
          <p:cNvGraphicFramePr/>
          <p:nvPr>
            <p:extLst>
              <p:ext uri="{D42A27DB-BD31-4B8C-83A1-F6EECF244321}">
                <p14:modId xmlns:p14="http://schemas.microsoft.com/office/powerpoint/2010/main" val="1160651007"/>
              </p:ext>
            </p:extLst>
          </p:nvPr>
        </p:nvGraphicFramePr>
        <p:xfrm>
          <a:off x="727076" y="1890713"/>
          <a:ext cx="2901950" cy="30765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7CB47E61-8025-667E-55BE-71DA6546A853}"/>
              </a:ext>
            </a:extLst>
          </p:cNvPr>
          <p:cNvGraphicFramePr/>
          <p:nvPr>
            <p:extLst>
              <p:ext uri="{D42A27DB-BD31-4B8C-83A1-F6EECF244321}">
                <p14:modId xmlns:p14="http://schemas.microsoft.com/office/powerpoint/2010/main" val="3454456920"/>
              </p:ext>
            </p:extLst>
          </p:nvPr>
        </p:nvGraphicFramePr>
        <p:xfrm>
          <a:off x="4645026" y="1890713"/>
          <a:ext cx="2901950" cy="307657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a:extLst>
              <a:ext uri="{FF2B5EF4-FFF2-40B4-BE49-F238E27FC236}">
                <a16:creationId xmlns:a16="http://schemas.microsoft.com/office/drawing/2014/main" id="{4A186B87-642E-D28C-DA07-A50EACF808D1}"/>
              </a:ext>
            </a:extLst>
          </p:cNvPr>
          <p:cNvGraphicFramePr/>
          <p:nvPr>
            <p:extLst>
              <p:ext uri="{D42A27DB-BD31-4B8C-83A1-F6EECF244321}">
                <p14:modId xmlns:p14="http://schemas.microsoft.com/office/powerpoint/2010/main" val="1707064985"/>
              </p:ext>
            </p:extLst>
          </p:nvPr>
        </p:nvGraphicFramePr>
        <p:xfrm>
          <a:off x="8562975" y="1890713"/>
          <a:ext cx="2901950" cy="3076575"/>
        </p:xfrm>
        <a:graphic>
          <a:graphicData uri="http://schemas.openxmlformats.org/drawingml/2006/chart">
            <c:chart xmlns:c="http://schemas.openxmlformats.org/drawingml/2006/chart" xmlns:r="http://schemas.openxmlformats.org/officeDocument/2006/relationships" r:id="rId5"/>
          </a:graphicData>
        </a:graphic>
      </p:graphicFrame>
      <p:sp>
        <p:nvSpPr>
          <p:cNvPr id="12" name="Oval 11">
            <a:extLst>
              <a:ext uri="{FF2B5EF4-FFF2-40B4-BE49-F238E27FC236}">
                <a16:creationId xmlns:a16="http://schemas.microsoft.com/office/drawing/2014/main" id="{47AFD4A1-A026-7056-26FB-45C7BA5D7A55}"/>
              </a:ext>
            </a:extLst>
          </p:cNvPr>
          <p:cNvSpPr/>
          <p:nvPr/>
        </p:nvSpPr>
        <p:spPr>
          <a:xfrm>
            <a:off x="1554162" y="2809875"/>
            <a:ext cx="1247776" cy="12477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638EC27-36AE-2B4C-EC9E-F87B1A22FC21}"/>
              </a:ext>
            </a:extLst>
          </p:cNvPr>
          <p:cNvSpPr/>
          <p:nvPr/>
        </p:nvSpPr>
        <p:spPr>
          <a:xfrm>
            <a:off x="5469636" y="2802636"/>
            <a:ext cx="1252728" cy="125272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6C18DB8-6B35-6E1E-6F30-43B73AB5A58A}"/>
              </a:ext>
            </a:extLst>
          </p:cNvPr>
          <p:cNvSpPr/>
          <p:nvPr/>
        </p:nvSpPr>
        <p:spPr>
          <a:xfrm>
            <a:off x="9390061" y="2802636"/>
            <a:ext cx="1247778" cy="124777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144FE69-2983-9E07-295A-C98A0A0A30BC}"/>
              </a:ext>
            </a:extLst>
          </p:cNvPr>
          <p:cNvSpPr txBox="1"/>
          <p:nvPr/>
        </p:nvSpPr>
        <p:spPr>
          <a:xfrm>
            <a:off x="973138" y="4781551"/>
            <a:ext cx="2409825" cy="461665"/>
          </a:xfrm>
          <a:prstGeom prst="rect">
            <a:avLst/>
          </a:prstGeom>
          <a:noFill/>
        </p:spPr>
        <p:txBody>
          <a:bodyPr wrap="square" rtlCol="0">
            <a:spAutoFit/>
          </a:bodyPr>
          <a:lstStyle/>
          <a:p>
            <a:pPr algn="ctr"/>
            <a:r>
              <a:rPr lang="en-US" sz="2400" b="1" dirty="0"/>
              <a:t>2023-24</a:t>
            </a:r>
          </a:p>
        </p:txBody>
      </p:sp>
      <p:sp>
        <p:nvSpPr>
          <p:cNvPr id="16" name="TextBox 15">
            <a:extLst>
              <a:ext uri="{FF2B5EF4-FFF2-40B4-BE49-F238E27FC236}">
                <a16:creationId xmlns:a16="http://schemas.microsoft.com/office/drawing/2014/main" id="{C14DCA70-0443-6BC0-D6AD-7C629C26D415}"/>
              </a:ext>
            </a:extLst>
          </p:cNvPr>
          <p:cNvSpPr txBox="1"/>
          <p:nvPr/>
        </p:nvSpPr>
        <p:spPr>
          <a:xfrm>
            <a:off x="4891087" y="4805364"/>
            <a:ext cx="2409825" cy="461665"/>
          </a:xfrm>
          <a:prstGeom prst="rect">
            <a:avLst/>
          </a:prstGeom>
          <a:noFill/>
        </p:spPr>
        <p:txBody>
          <a:bodyPr wrap="square" rtlCol="0">
            <a:spAutoFit/>
          </a:bodyPr>
          <a:lstStyle/>
          <a:p>
            <a:pPr algn="ctr"/>
            <a:r>
              <a:rPr lang="en-US" sz="2400" b="1" dirty="0"/>
              <a:t>2024-25</a:t>
            </a:r>
          </a:p>
        </p:txBody>
      </p:sp>
      <p:sp>
        <p:nvSpPr>
          <p:cNvPr id="17" name="TextBox 16">
            <a:extLst>
              <a:ext uri="{FF2B5EF4-FFF2-40B4-BE49-F238E27FC236}">
                <a16:creationId xmlns:a16="http://schemas.microsoft.com/office/drawing/2014/main" id="{0965C825-03E0-0606-3672-399D94BC4BBB}"/>
              </a:ext>
            </a:extLst>
          </p:cNvPr>
          <p:cNvSpPr txBox="1"/>
          <p:nvPr/>
        </p:nvSpPr>
        <p:spPr>
          <a:xfrm>
            <a:off x="8809037" y="4805363"/>
            <a:ext cx="2409825" cy="461665"/>
          </a:xfrm>
          <a:prstGeom prst="rect">
            <a:avLst/>
          </a:prstGeom>
          <a:noFill/>
        </p:spPr>
        <p:txBody>
          <a:bodyPr wrap="square" rtlCol="0">
            <a:spAutoFit/>
          </a:bodyPr>
          <a:lstStyle/>
          <a:p>
            <a:pPr algn="ctr"/>
            <a:r>
              <a:rPr lang="en-US" sz="2400" b="1" dirty="0"/>
              <a:t>2025-26</a:t>
            </a:r>
          </a:p>
        </p:txBody>
      </p:sp>
    </p:spTree>
    <p:extLst>
      <p:ext uri="{BB962C8B-B14F-4D97-AF65-F5344CB8AC3E}">
        <p14:creationId xmlns:p14="http://schemas.microsoft.com/office/powerpoint/2010/main" val="531549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CF362F-5A84-3C2A-DEA8-902FEE21D026}"/>
              </a:ext>
            </a:extLst>
          </p:cNvPr>
          <p:cNvSpPr txBox="1"/>
          <p:nvPr/>
        </p:nvSpPr>
        <p:spPr>
          <a:xfrm>
            <a:off x="444500" y="4127500"/>
            <a:ext cx="10934700" cy="769441"/>
          </a:xfrm>
          <a:prstGeom prst="rect">
            <a:avLst/>
          </a:prstGeom>
          <a:noFill/>
        </p:spPr>
        <p:txBody>
          <a:bodyPr wrap="square" rtlCol="0">
            <a:spAutoFit/>
          </a:bodyPr>
          <a:lstStyle/>
          <a:p>
            <a:r>
              <a:rPr lang="en-US" sz="4400" b="1" dirty="0">
                <a:solidFill>
                  <a:srgbClr val="95C623"/>
                </a:solidFill>
                <a:latin typeface="Helvetica" pitchFamily="2" charset="0"/>
              </a:rPr>
              <a:t>Safety</a:t>
            </a:r>
            <a:r>
              <a:rPr lang="en-US" sz="4400" b="1" dirty="0">
                <a:latin typeface="Helvetica" pitchFamily="2" charset="0"/>
              </a:rPr>
              <a:t> </a:t>
            </a:r>
            <a:r>
              <a:rPr lang="en-US" sz="4400" b="1" dirty="0">
                <a:solidFill>
                  <a:srgbClr val="43444C"/>
                </a:solidFill>
                <a:latin typeface="Helvetica" pitchFamily="2" charset="0"/>
              </a:rPr>
              <a:t>Around Campus</a:t>
            </a:r>
          </a:p>
        </p:txBody>
      </p:sp>
      <p:sp>
        <p:nvSpPr>
          <p:cNvPr id="3" name="TextBox 2">
            <a:extLst>
              <a:ext uri="{FF2B5EF4-FFF2-40B4-BE49-F238E27FC236}">
                <a16:creationId xmlns:a16="http://schemas.microsoft.com/office/drawing/2014/main" id="{45B70480-0531-DEDE-5DD2-AEA7393A9DB4}"/>
              </a:ext>
            </a:extLst>
          </p:cNvPr>
          <p:cNvSpPr txBox="1"/>
          <p:nvPr/>
        </p:nvSpPr>
        <p:spPr>
          <a:xfrm>
            <a:off x="444500" y="4896941"/>
            <a:ext cx="10807700" cy="369332"/>
          </a:xfrm>
          <a:prstGeom prst="rect">
            <a:avLst/>
          </a:prstGeom>
          <a:noFill/>
        </p:spPr>
        <p:txBody>
          <a:bodyPr wrap="square" rtlCol="0">
            <a:spAutoFit/>
          </a:bodyPr>
          <a:lstStyle/>
          <a:p>
            <a:r>
              <a:rPr lang="en-US" dirty="0">
                <a:solidFill>
                  <a:srgbClr val="43444C"/>
                </a:solidFill>
                <a:latin typeface="Helvetica" pitchFamily="2" charset="0"/>
              </a:rPr>
              <a:t>Safety scores at Grand View are our highest scores. </a:t>
            </a:r>
          </a:p>
        </p:txBody>
      </p:sp>
      <p:pic>
        <p:nvPicPr>
          <p:cNvPr id="7" name="Graphic 6" descr="Lock outline">
            <a:extLst>
              <a:ext uri="{FF2B5EF4-FFF2-40B4-BE49-F238E27FC236}">
                <a16:creationId xmlns:a16="http://schemas.microsoft.com/office/drawing/2014/main" id="{3ACEF3C1-E959-41FA-C9C0-1767077740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7257" y="1739900"/>
            <a:ext cx="2159000" cy="2159000"/>
          </a:xfrm>
          <a:prstGeom prst="rect">
            <a:avLst/>
          </a:prstGeom>
        </p:spPr>
      </p:pic>
    </p:spTree>
    <p:extLst>
      <p:ext uri="{BB962C8B-B14F-4D97-AF65-F5344CB8AC3E}">
        <p14:creationId xmlns:p14="http://schemas.microsoft.com/office/powerpoint/2010/main" val="3833436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89343-9565-D86C-8E90-488DC28960FF}"/>
              </a:ext>
            </a:extLst>
          </p:cNvPr>
          <p:cNvSpPr>
            <a:spLocks noGrp="1"/>
          </p:cNvSpPr>
          <p:nvPr>
            <p:ph type="title"/>
          </p:nvPr>
        </p:nvSpPr>
        <p:spPr/>
        <p:txBody>
          <a:bodyPr>
            <a:normAutofit/>
          </a:bodyPr>
          <a:lstStyle/>
          <a:p>
            <a:r>
              <a:rPr lang="en-US" dirty="0">
                <a:solidFill>
                  <a:srgbClr val="95C623"/>
                </a:solidFill>
              </a:rPr>
              <a:t>Safety</a:t>
            </a:r>
            <a:br>
              <a:rPr lang="en-US" dirty="0">
                <a:solidFill>
                  <a:srgbClr val="C00000"/>
                </a:solidFill>
              </a:rPr>
            </a:br>
            <a:r>
              <a:rPr lang="en-US" sz="3200" dirty="0">
                <a:solidFill>
                  <a:schemeClr val="bg2">
                    <a:lumMod val="25000"/>
                  </a:schemeClr>
                </a:solidFill>
              </a:rPr>
              <a:t>Comments</a:t>
            </a:r>
            <a:endParaRPr lang="en-US" dirty="0">
              <a:solidFill>
                <a:schemeClr val="bg2">
                  <a:lumMod val="25000"/>
                </a:schemeClr>
              </a:solidFill>
            </a:endParaRPr>
          </a:p>
        </p:txBody>
      </p:sp>
      <p:pic>
        <p:nvPicPr>
          <p:cNvPr id="6" name="Content Placeholder 5" descr="City outline">
            <a:extLst>
              <a:ext uri="{FF2B5EF4-FFF2-40B4-BE49-F238E27FC236}">
                <a16:creationId xmlns:a16="http://schemas.microsoft.com/office/drawing/2014/main" id="{45E2776E-E4E1-52E6-F09C-AA9E1FAEBFD8}"/>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1883227" y="2454728"/>
            <a:ext cx="1948543" cy="1948543"/>
          </a:xfrm>
        </p:spPr>
      </p:pic>
      <p:sp>
        <p:nvSpPr>
          <p:cNvPr id="4" name="Content Placeholder 3">
            <a:extLst>
              <a:ext uri="{FF2B5EF4-FFF2-40B4-BE49-F238E27FC236}">
                <a16:creationId xmlns:a16="http://schemas.microsoft.com/office/drawing/2014/main" id="{D8465B6E-B7EA-97C8-E5DB-71D610E04FCF}"/>
              </a:ext>
            </a:extLst>
          </p:cNvPr>
          <p:cNvSpPr>
            <a:spLocks noGrp="1"/>
          </p:cNvSpPr>
          <p:nvPr>
            <p:ph sz="half" idx="2"/>
          </p:nvPr>
        </p:nvSpPr>
        <p:spPr>
          <a:xfrm>
            <a:off x="6096000" y="1690688"/>
            <a:ext cx="5181600" cy="3397332"/>
          </a:xfrm>
        </p:spPr>
        <p:txBody>
          <a:bodyPr>
            <a:normAutofit/>
          </a:bodyPr>
          <a:lstStyle/>
          <a:p>
            <a:pPr marL="285750" indent="-285750">
              <a:lnSpc>
                <a:spcPct val="110000"/>
              </a:lnSpc>
              <a:buFont typeface="Arial" panose="020B0604020202020204" pitchFamily="34" charset="0"/>
              <a:buChar char="•"/>
            </a:pPr>
            <a:r>
              <a:rPr lang="en-US" sz="1800" dirty="0">
                <a:latin typeface="Helvetica" pitchFamily="2" charset="0"/>
              </a:rPr>
              <a:t>L Apartments have the lowest safety score.</a:t>
            </a:r>
          </a:p>
          <a:p>
            <a:pPr marL="285750" indent="-285750">
              <a:lnSpc>
                <a:spcPct val="110000"/>
              </a:lnSpc>
              <a:buFont typeface="Arial" panose="020B0604020202020204" pitchFamily="34" charset="0"/>
              <a:buChar char="•"/>
            </a:pPr>
            <a:r>
              <a:rPr lang="en-US" sz="1800" dirty="0">
                <a:latin typeface="Helvetica" pitchFamily="2" charset="0"/>
              </a:rPr>
              <a:t>Knudsen has the highest safety score. </a:t>
            </a:r>
          </a:p>
          <a:p>
            <a:pPr marL="285750" indent="-285750">
              <a:lnSpc>
                <a:spcPct val="110000"/>
              </a:lnSpc>
              <a:buFont typeface="Arial" panose="020B0604020202020204" pitchFamily="34" charset="0"/>
              <a:buChar char="•"/>
            </a:pPr>
            <a:r>
              <a:rPr lang="en-US" sz="1800" i="1" dirty="0"/>
              <a:t>“Not enough lights outside, safety measures could be better around Grand View.” </a:t>
            </a:r>
            <a:br>
              <a:rPr lang="en-US" sz="1800" dirty="0"/>
            </a:br>
            <a:r>
              <a:rPr lang="en-US" sz="1800" dirty="0"/>
              <a:t>	– L Apartment Resident</a:t>
            </a:r>
            <a:endParaRPr lang="en-US" sz="1800" dirty="0">
              <a:latin typeface="Helvetica" pitchFamily="2" charset="0"/>
            </a:endParaRPr>
          </a:p>
          <a:p>
            <a:pPr marL="285750" indent="-285750">
              <a:lnSpc>
                <a:spcPct val="110000"/>
              </a:lnSpc>
              <a:buFont typeface="Arial" panose="020B0604020202020204" pitchFamily="34" charset="0"/>
              <a:buChar char="•"/>
            </a:pPr>
            <a:r>
              <a:rPr lang="en-US" sz="1800" i="1" dirty="0"/>
              <a:t>“Campus security doesn’t seem like they know what to do during most circumstances; they make things worse during a room incident.” </a:t>
            </a:r>
            <a:br>
              <a:rPr lang="en-US" sz="1800" dirty="0"/>
            </a:br>
            <a:r>
              <a:rPr lang="en-US" sz="1800" dirty="0"/>
              <a:t>	– L Apartment Resident </a:t>
            </a:r>
            <a:endParaRPr lang="en-US" sz="1800" dirty="0">
              <a:latin typeface="Helvetica" pitchFamily="2" charset="0"/>
            </a:endParaRPr>
          </a:p>
          <a:p>
            <a:pPr marL="457200" indent="-457200">
              <a:lnSpc>
                <a:spcPct val="110000"/>
              </a:lnSpc>
              <a:buFont typeface="Arial" panose="020B0604020202020204" pitchFamily="34" charset="0"/>
              <a:buChar char="•"/>
            </a:pPr>
            <a:endParaRPr lang="en-US" dirty="0"/>
          </a:p>
        </p:txBody>
      </p:sp>
    </p:spTree>
    <p:extLst>
      <p:ext uri="{BB962C8B-B14F-4D97-AF65-F5344CB8AC3E}">
        <p14:creationId xmlns:p14="http://schemas.microsoft.com/office/powerpoint/2010/main" val="2368874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A0145-DD72-7A6C-DC55-0FA13F982E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AF4454-0CBE-6459-DDD1-205F154E8655}"/>
              </a:ext>
            </a:extLst>
          </p:cNvPr>
          <p:cNvSpPr txBox="1"/>
          <p:nvPr/>
        </p:nvSpPr>
        <p:spPr>
          <a:xfrm>
            <a:off x="444500" y="4127500"/>
            <a:ext cx="10934700" cy="769441"/>
          </a:xfrm>
          <a:prstGeom prst="rect">
            <a:avLst/>
          </a:prstGeom>
          <a:noFill/>
        </p:spPr>
        <p:txBody>
          <a:bodyPr wrap="square" rtlCol="0">
            <a:spAutoFit/>
          </a:bodyPr>
          <a:lstStyle/>
          <a:p>
            <a:r>
              <a:rPr lang="en-US" sz="4400" b="1" dirty="0">
                <a:solidFill>
                  <a:srgbClr val="009FFD"/>
                </a:solidFill>
                <a:latin typeface="Helvetica" pitchFamily="2" charset="0"/>
              </a:rPr>
              <a:t>Facilities</a:t>
            </a:r>
            <a:r>
              <a:rPr lang="en-US" sz="4400" b="1" dirty="0">
                <a:latin typeface="Helvetica" pitchFamily="2" charset="0"/>
              </a:rPr>
              <a:t> </a:t>
            </a:r>
            <a:r>
              <a:rPr lang="en-US" sz="4400" b="1" dirty="0">
                <a:solidFill>
                  <a:srgbClr val="43444C"/>
                </a:solidFill>
                <a:latin typeface="Helvetica" pitchFamily="2" charset="0"/>
              </a:rPr>
              <a:t>Around Campus</a:t>
            </a:r>
          </a:p>
        </p:txBody>
      </p:sp>
      <p:sp>
        <p:nvSpPr>
          <p:cNvPr id="3" name="TextBox 2">
            <a:extLst>
              <a:ext uri="{FF2B5EF4-FFF2-40B4-BE49-F238E27FC236}">
                <a16:creationId xmlns:a16="http://schemas.microsoft.com/office/drawing/2014/main" id="{187D188A-5BBF-C29D-CE27-791AAFBF518D}"/>
              </a:ext>
            </a:extLst>
          </p:cNvPr>
          <p:cNvSpPr txBox="1"/>
          <p:nvPr/>
        </p:nvSpPr>
        <p:spPr>
          <a:xfrm>
            <a:off x="444500" y="4896941"/>
            <a:ext cx="10807700" cy="369332"/>
          </a:xfrm>
          <a:prstGeom prst="rect">
            <a:avLst/>
          </a:prstGeom>
          <a:noFill/>
        </p:spPr>
        <p:txBody>
          <a:bodyPr wrap="square" rtlCol="0">
            <a:spAutoFit/>
          </a:bodyPr>
          <a:lstStyle/>
          <a:p>
            <a:r>
              <a:rPr lang="en-US" dirty="0">
                <a:solidFill>
                  <a:srgbClr val="43444C"/>
                </a:solidFill>
                <a:latin typeface="Helvetica" pitchFamily="2" charset="0"/>
              </a:rPr>
              <a:t>Facility scores are our biggest area for improvement, specifically at Nielsen and Knudsen.</a:t>
            </a:r>
          </a:p>
        </p:txBody>
      </p:sp>
      <p:pic>
        <p:nvPicPr>
          <p:cNvPr id="6" name="Graphic 5" descr="Washing Machine outline">
            <a:extLst>
              <a:ext uri="{FF2B5EF4-FFF2-40B4-BE49-F238E27FC236}">
                <a16:creationId xmlns:a16="http://schemas.microsoft.com/office/drawing/2014/main" id="{A463FD46-E779-B356-ED85-24E154A4F0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44744" y="835222"/>
            <a:ext cx="1734456" cy="1734456"/>
          </a:xfrm>
          <a:prstGeom prst="rect">
            <a:avLst/>
          </a:prstGeom>
        </p:spPr>
      </p:pic>
    </p:spTree>
    <p:extLst>
      <p:ext uri="{BB962C8B-B14F-4D97-AF65-F5344CB8AC3E}">
        <p14:creationId xmlns:p14="http://schemas.microsoft.com/office/powerpoint/2010/main" val="1051352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20458-E19A-BDE8-707B-F7BE0E81F0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2853BD-05EB-8B7E-C54F-5E8A47C488DD}"/>
              </a:ext>
            </a:extLst>
          </p:cNvPr>
          <p:cNvSpPr txBox="1"/>
          <p:nvPr/>
        </p:nvSpPr>
        <p:spPr>
          <a:xfrm>
            <a:off x="672142" y="920509"/>
            <a:ext cx="10947400" cy="3662541"/>
          </a:xfrm>
          <a:prstGeom prst="rect">
            <a:avLst/>
          </a:prstGeom>
          <a:noFill/>
        </p:spPr>
        <p:txBody>
          <a:bodyPr wrap="square" rtlCol="0">
            <a:spAutoFit/>
          </a:bodyPr>
          <a:lstStyle/>
          <a:p>
            <a:endParaRPr lang="en-US" sz="4400" dirty="0">
              <a:latin typeface="Helvetica" pitchFamily="2" charset="0"/>
            </a:endParaRPr>
          </a:p>
          <a:p>
            <a:endParaRPr lang="en-US" sz="4400" dirty="0">
              <a:latin typeface="Helvetica" pitchFamily="2" charset="0"/>
            </a:endParaRPr>
          </a:p>
          <a:p>
            <a:r>
              <a:rPr lang="en-US" dirty="0">
                <a:latin typeface="Helvetica" pitchFamily="2" charset="0"/>
              </a:rPr>
              <a:t>Free Laundry</a:t>
            </a:r>
          </a:p>
          <a:p>
            <a:endParaRPr lang="en-US" dirty="0">
              <a:latin typeface="Helvetica" pitchFamily="2" charset="0"/>
            </a:endParaRPr>
          </a:p>
          <a:p>
            <a:r>
              <a:rPr lang="en-US" dirty="0">
                <a:latin typeface="Helvetica" pitchFamily="2" charset="0"/>
              </a:rPr>
              <a:t>Broken Laundry Machines</a:t>
            </a:r>
          </a:p>
          <a:p>
            <a:endParaRPr lang="en-US" dirty="0">
              <a:latin typeface="Helvetica" pitchFamily="2" charset="0"/>
            </a:endParaRPr>
          </a:p>
          <a:p>
            <a:r>
              <a:rPr lang="en-US" dirty="0">
                <a:latin typeface="Helvetica" pitchFamily="2" charset="0"/>
              </a:rPr>
              <a:t>Cleanliness Issues in Shared Bathrooms</a:t>
            </a:r>
          </a:p>
          <a:p>
            <a:endParaRPr lang="en-US" dirty="0">
              <a:latin typeface="Helvetica" pitchFamily="2" charset="0"/>
            </a:endParaRPr>
          </a:p>
          <a:p>
            <a:r>
              <a:rPr lang="en-US" dirty="0">
                <a:latin typeface="Helvetica" pitchFamily="2" charset="0"/>
              </a:rPr>
              <a:t>Pests in Dorms</a:t>
            </a:r>
          </a:p>
          <a:p>
            <a:endParaRPr lang="en-US" dirty="0">
              <a:latin typeface="Helvetica" pitchFamily="2" charset="0"/>
            </a:endParaRPr>
          </a:p>
        </p:txBody>
      </p:sp>
      <p:pic>
        <p:nvPicPr>
          <p:cNvPr id="12" name="Graphic 11" descr="Shower outline">
            <a:extLst>
              <a:ext uri="{FF2B5EF4-FFF2-40B4-BE49-F238E27FC236}">
                <a16:creationId xmlns:a16="http://schemas.microsoft.com/office/drawing/2014/main" id="{EF103FB6-994B-F602-662E-1A3D115591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53193" y="2191352"/>
            <a:ext cx="1923143" cy="1923143"/>
          </a:xfrm>
          <a:prstGeom prst="rect">
            <a:avLst/>
          </a:prstGeom>
        </p:spPr>
      </p:pic>
      <p:cxnSp>
        <p:nvCxnSpPr>
          <p:cNvPr id="4" name="Straight Connector 3">
            <a:extLst>
              <a:ext uri="{FF2B5EF4-FFF2-40B4-BE49-F238E27FC236}">
                <a16:creationId xmlns:a16="http://schemas.microsoft.com/office/drawing/2014/main" id="{B5F85806-ABDF-D93A-371D-4FC5D49903ED}"/>
              </a:ext>
            </a:extLst>
          </p:cNvPr>
          <p:cNvCxnSpPr/>
          <p:nvPr/>
        </p:nvCxnSpPr>
        <p:spPr>
          <a:xfrm>
            <a:off x="673100" y="2736165"/>
            <a:ext cx="6375400" cy="0"/>
          </a:xfrm>
          <a:prstGeom prst="line">
            <a:avLst/>
          </a:prstGeom>
          <a:ln w="38100">
            <a:solidFill>
              <a:srgbClr val="255C99"/>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4462755-38A0-32A5-103C-613B2A718CF4}"/>
              </a:ext>
            </a:extLst>
          </p:cNvPr>
          <p:cNvCxnSpPr/>
          <p:nvPr/>
        </p:nvCxnSpPr>
        <p:spPr>
          <a:xfrm>
            <a:off x="673100" y="3235778"/>
            <a:ext cx="6375400" cy="0"/>
          </a:xfrm>
          <a:prstGeom prst="line">
            <a:avLst/>
          </a:prstGeom>
          <a:ln w="38100">
            <a:solidFill>
              <a:srgbClr val="255C99"/>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32D30BB-1C16-32D5-09E4-A15FE51D93B1}"/>
              </a:ext>
            </a:extLst>
          </p:cNvPr>
          <p:cNvCxnSpPr/>
          <p:nvPr/>
        </p:nvCxnSpPr>
        <p:spPr>
          <a:xfrm>
            <a:off x="673100" y="3822893"/>
            <a:ext cx="6375400" cy="0"/>
          </a:xfrm>
          <a:prstGeom prst="line">
            <a:avLst/>
          </a:prstGeom>
          <a:ln w="38100">
            <a:solidFill>
              <a:srgbClr val="255C99"/>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FCC669D-AFD5-E9E6-99BA-801A1B0D0D38}"/>
              </a:ext>
            </a:extLst>
          </p:cNvPr>
          <p:cNvCxnSpPr/>
          <p:nvPr/>
        </p:nvCxnSpPr>
        <p:spPr>
          <a:xfrm>
            <a:off x="673100" y="4381693"/>
            <a:ext cx="6375400" cy="0"/>
          </a:xfrm>
          <a:prstGeom prst="line">
            <a:avLst/>
          </a:prstGeom>
          <a:ln w="38100">
            <a:solidFill>
              <a:srgbClr val="255C99"/>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5A2D889-E96E-404D-32D3-FA93E8028FF2}"/>
              </a:ext>
            </a:extLst>
          </p:cNvPr>
          <p:cNvCxnSpPr/>
          <p:nvPr/>
        </p:nvCxnSpPr>
        <p:spPr>
          <a:xfrm>
            <a:off x="673100" y="2209993"/>
            <a:ext cx="6375400" cy="0"/>
          </a:xfrm>
          <a:prstGeom prst="line">
            <a:avLst/>
          </a:prstGeom>
          <a:ln w="38100">
            <a:solidFill>
              <a:srgbClr val="255C9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8D93C5-B3DC-D211-5EFD-5A0FDC99CDC4}"/>
              </a:ext>
            </a:extLst>
          </p:cNvPr>
          <p:cNvSpPr txBox="1"/>
          <p:nvPr/>
        </p:nvSpPr>
        <p:spPr>
          <a:xfrm>
            <a:off x="672142" y="617360"/>
            <a:ext cx="4546972" cy="1446550"/>
          </a:xfrm>
          <a:prstGeom prst="rect">
            <a:avLst/>
          </a:prstGeom>
          <a:noFill/>
        </p:spPr>
        <p:txBody>
          <a:bodyPr wrap="square">
            <a:spAutoFit/>
          </a:bodyPr>
          <a:lstStyle/>
          <a:p>
            <a:r>
              <a:rPr lang="en-US" sz="4400" b="1" dirty="0">
                <a:solidFill>
                  <a:srgbClr val="009FFD"/>
                </a:solidFill>
                <a:latin typeface="Helvetica" pitchFamily="2" charset="0"/>
              </a:rPr>
              <a:t>Facilities</a:t>
            </a:r>
            <a:r>
              <a:rPr lang="en-US" sz="4400" b="1" dirty="0">
                <a:solidFill>
                  <a:srgbClr val="43444C"/>
                </a:solidFill>
                <a:latin typeface="Helvetica" pitchFamily="2" charset="0"/>
              </a:rPr>
              <a:t> Issues &amp; Opportunities</a:t>
            </a:r>
          </a:p>
        </p:txBody>
      </p:sp>
    </p:spTree>
    <p:extLst>
      <p:ext uri="{BB962C8B-B14F-4D97-AF65-F5344CB8AC3E}">
        <p14:creationId xmlns:p14="http://schemas.microsoft.com/office/powerpoint/2010/main" val="1272337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ED204-B48E-31DE-65D0-0CA42F16D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814A1-FC74-4E72-DA41-76CF628DD1C9}"/>
              </a:ext>
            </a:extLst>
          </p:cNvPr>
          <p:cNvSpPr>
            <a:spLocks noGrp="1"/>
          </p:cNvSpPr>
          <p:nvPr>
            <p:ph type="title"/>
          </p:nvPr>
        </p:nvSpPr>
        <p:spPr>
          <a:xfrm>
            <a:off x="838200" y="174053"/>
            <a:ext cx="4279710" cy="1325563"/>
          </a:xfrm>
        </p:spPr>
        <p:txBody>
          <a:bodyPr>
            <a:normAutofit/>
          </a:bodyPr>
          <a:lstStyle/>
          <a:p>
            <a:r>
              <a:rPr lang="en-US" dirty="0">
                <a:solidFill>
                  <a:srgbClr val="43444C"/>
                </a:solidFill>
                <a:latin typeface="Helvetica"/>
                <a:cs typeface="Helvetica"/>
              </a:rPr>
              <a:t>L Apartments</a:t>
            </a:r>
            <a:br>
              <a:rPr lang="en-US" b="0" dirty="0">
                <a:latin typeface="Helvetica"/>
                <a:cs typeface="Helvetica"/>
              </a:rPr>
            </a:br>
            <a:r>
              <a:rPr lang="en-US" sz="2800" dirty="0">
                <a:solidFill>
                  <a:srgbClr val="737582"/>
                </a:solidFill>
                <a:latin typeface="Helvetica"/>
                <a:cs typeface="Helvetica"/>
              </a:rPr>
              <a:t>Survey Findings</a:t>
            </a:r>
            <a:endParaRPr lang="en-US" dirty="0">
              <a:solidFill>
                <a:srgbClr val="737582"/>
              </a:solidFill>
            </a:endParaRPr>
          </a:p>
        </p:txBody>
      </p:sp>
      <p:sp>
        <p:nvSpPr>
          <p:cNvPr id="4" name="Content Placeholder 3">
            <a:extLst>
              <a:ext uri="{FF2B5EF4-FFF2-40B4-BE49-F238E27FC236}">
                <a16:creationId xmlns:a16="http://schemas.microsoft.com/office/drawing/2014/main" id="{1F8C7107-E4AD-5D8E-8845-05539D390267}"/>
              </a:ext>
            </a:extLst>
          </p:cNvPr>
          <p:cNvSpPr>
            <a:spLocks noGrp="1"/>
          </p:cNvSpPr>
          <p:nvPr>
            <p:ph sz="half" idx="1"/>
          </p:nvPr>
        </p:nvSpPr>
        <p:spPr>
          <a:xfrm>
            <a:off x="647131" y="1535671"/>
            <a:ext cx="4661848" cy="4124986"/>
          </a:xfrm>
        </p:spPr>
        <p:txBody>
          <a:bodyPr>
            <a:normAutofit/>
          </a:bodyPr>
          <a:lstStyle/>
          <a:p>
            <a:pPr marL="231775" indent="-231775">
              <a:lnSpc>
                <a:spcPct val="200000"/>
              </a:lnSpc>
              <a:buFont typeface="Arial" panose="020B0604020202020204" pitchFamily="34" charset="0"/>
              <a:buChar char="•"/>
            </a:pPr>
            <a:r>
              <a:rPr lang="en-US" sz="2000" b="1" dirty="0">
                <a:solidFill>
                  <a:schemeClr val="bg2">
                    <a:lumMod val="25000"/>
                  </a:schemeClr>
                </a:solidFill>
              </a:rPr>
              <a:t>Significant Decline Across</a:t>
            </a:r>
          </a:p>
          <a:p>
            <a:pPr marL="463550" lvl="1" indent="-231775">
              <a:lnSpc>
                <a:spcPct val="200000"/>
              </a:lnSpc>
            </a:pPr>
            <a:r>
              <a:rPr lang="en-US" sz="1800" dirty="0">
                <a:solidFill>
                  <a:schemeClr val="bg2">
                    <a:lumMod val="25000"/>
                  </a:schemeClr>
                </a:solidFill>
              </a:rPr>
              <a:t>Resident Assistant Support</a:t>
            </a:r>
          </a:p>
          <a:p>
            <a:pPr marL="463550" lvl="1" indent="-231775">
              <a:lnSpc>
                <a:spcPct val="200000"/>
              </a:lnSpc>
            </a:pPr>
            <a:r>
              <a:rPr lang="en-US" sz="1800" dirty="0">
                <a:solidFill>
                  <a:schemeClr val="bg2">
                    <a:lumMod val="25000"/>
                  </a:schemeClr>
                </a:solidFill>
              </a:rPr>
              <a:t>University Staff</a:t>
            </a:r>
          </a:p>
          <a:p>
            <a:pPr marL="463550" lvl="1" indent="-231775">
              <a:lnSpc>
                <a:spcPct val="200000"/>
              </a:lnSpc>
            </a:pPr>
            <a:r>
              <a:rPr lang="en-US" sz="1800" dirty="0">
                <a:solidFill>
                  <a:schemeClr val="bg2">
                    <a:lumMod val="25000"/>
                  </a:schemeClr>
                </a:solidFill>
              </a:rPr>
              <a:t>University Events</a:t>
            </a:r>
          </a:p>
          <a:p>
            <a:pPr marL="463550" lvl="1" indent="-231775">
              <a:lnSpc>
                <a:spcPct val="200000"/>
              </a:lnSpc>
            </a:pPr>
            <a:r>
              <a:rPr lang="en-US" sz="1800" dirty="0">
                <a:solidFill>
                  <a:schemeClr val="bg2">
                    <a:lumMod val="25000"/>
                  </a:schemeClr>
                </a:solidFill>
              </a:rPr>
              <a:t>Overall Safety</a:t>
            </a:r>
          </a:p>
          <a:p>
            <a:pPr marL="463550" lvl="1" indent="-231775">
              <a:lnSpc>
                <a:spcPct val="200000"/>
              </a:lnSpc>
            </a:pPr>
            <a:r>
              <a:rPr lang="en-US" sz="1800" dirty="0">
                <a:solidFill>
                  <a:schemeClr val="bg2">
                    <a:lumMod val="25000"/>
                  </a:schemeClr>
                </a:solidFill>
              </a:rPr>
              <a:t>Facilities </a:t>
            </a:r>
          </a:p>
        </p:txBody>
      </p:sp>
      <p:graphicFrame>
        <p:nvGraphicFramePr>
          <p:cNvPr id="11" name="Chart 10">
            <a:extLst>
              <a:ext uri="{FF2B5EF4-FFF2-40B4-BE49-F238E27FC236}">
                <a16:creationId xmlns:a16="http://schemas.microsoft.com/office/drawing/2014/main" id="{46B7C602-C809-F2DC-5D8C-D300842EF141}"/>
              </a:ext>
            </a:extLst>
          </p:cNvPr>
          <p:cNvGraphicFramePr/>
          <p:nvPr>
            <p:extLst>
              <p:ext uri="{D42A27DB-BD31-4B8C-83A1-F6EECF244321}">
                <p14:modId xmlns:p14="http://schemas.microsoft.com/office/powerpoint/2010/main" val="3804540979"/>
              </p:ext>
            </p:extLst>
          </p:nvPr>
        </p:nvGraphicFramePr>
        <p:xfrm>
          <a:off x="5636525" y="1499616"/>
          <a:ext cx="6168788" cy="4229281"/>
        </p:xfrm>
        <a:graphic>
          <a:graphicData uri="http://schemas.openxmlformats.org/drawingml/2006/chart">
            <c:chart xmlns:c="http://schemas.openxmlformats.org/drawingml/2006/chart" xmlns:r="http://schemas.openxmlformats.org/officeDocument/2006/relationships" r:id="rId3"/>
          </a:graphicData>
        </a:graphic>
      </p:graphicFrame>
      <p:sp>
        <p:nvSpPr>
          <p:cNvPr id="12" name="Rectangle 11">
            <a:extLst>
              <a:ext uri="{FF2B5EF4-FFF2-40B4-BE49-F238E27FC236}">
                <a16:creationId xmlns:a16="http://schemas.microsoft.com/office/drawing/2014/main" id="{727216AC-278C-110B-5321-8388541FB080}"/>
              </a:ext>
            </a:extLst>
          </p:cNvPr>
          <p:cNvSpPr/>
          <p:nvPr/>
        </p:nvSpPr>
        <p:spPr>
          <a:xfrm>
            <a:off x="10877265" y="365125"/>
            <a:ext cx="931885" cy="589072"/>
          </a:xfrm>
          <a:prstGeom prst="rect">
            <a:avLst/>
          </a:prstGeom>
          <a:solidFill>
            <a:srgbClr val="95C6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6BA4D4C-AEC1-B506-D23C-F45D68665C5D}"/>
              </a:ext>
            </a:extLst>
          </p:cNvPr>
          <p:cNvSpPr/>
          <p:nvPr/>
        </p:nvSpPr>
        <p:spPr>
          <a:xfrm>
            <a:off x="8120418" y="365125"/>
            <a:ext cx="2634018" cy="589072"/>
          </a:xfrm>
          <a:prstGeom prst="rect">
            <a:avLst/>
          </a:prstGeom>
          <a:solidFill>
            <a:srgbClr val="255C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0722949-D385-87F8-8B00-683232B05057}"/>
              </a:ext>
            </a:extLst>
          </p:cNvPr>
          <p:cNvSpPr txBox="1"/>
          <p:nvPr/>
        </p:nvSpPr>
        <p:spPr>
          <a:xfrm>
            <a:off x="8120418" y="296074"/>
            <a:ext cx="2634018" cy="589072"/>
          </a:xfrm>
          <a:prstGeom prst="rect">
            <a:avLst/>
          </a:prstGeom>
          <a:noFill/>
        </p:spPr>
        <p:txBody>
          <a:bodyPr wrap="square">
            <a:spAutoFit/>
          </a:bodyPr>
          <a:lstStyle/>
          <a:p>
            <a:pPr algn="ctr">
              <a:lnSpc>
                <a:spcPct val="150000"/>
              </a:lnSpc>
            </a:pPr>
            <a:r>
              <a:rPr lang="en-US" sz="2400" b="1" dirty="0">
                <a:solidFill>
                  <a:schemeClr val="bg1"/>
                </a:solidFill>
              </a:rPr>
              <a:t>Response Rate</a:t>
            </a:r>
          </a:p>
        </p:txBody>
      </p:sp>
      <p:sp>
        <p:nvSpPr>
          <p:cNvPr id="15" name="TextBox 14">
            <a:extLst>
              <a:ext uri="{FF2B5EF4-FFF2-40B4-BE49-F238E27FC236}">
                <a16:creationId xmlns:a16="http://schemas.microsoft.com/office/drawing/2014/main" id="{D2CCF455-6A2B-A2D6-B361-17011C871486}"/>
              </a:ext>
            </a:extLst>
          </p:cNvPr>
          <p:cNvSpPr txBox="1"/>
          <p:nvPr/>
        </p:nvSpPr>
        <p:spPr>
          <a:xfrm>
            <a:off x="10691599" y="203902"/>
            <a:ext cx="1299523" cy="754694"/>
          </a:xfrm>
          <a:prstGeom prst="rect">
            <a:avLst/>
          </a:prstGeom>
          <a:noFill/>
        </p:spPr>
        <p:txBody>
          <a:bodyPr wrap="square">
            <a:spAutoFit/>
          </a:bodyPr>
          <a:lstStyle/>
          <a:p>
            <a:pPr algn="ctr">
              <a:lnSpc>
                <a:spcPct val="150000"/>
              </a:lnSpc>
            </a:pPr>
            <a:r>
              <a:rPr lang="en-US" sz="3200" b="1" dirty="0">
                <a:solidFill>
                  <a:srgbClr val="43444C"/>
                </a:solidFill>
              </a:rPr>
              <a:t>20%</a:t>
            </a:r>
          </a:p>
        </p:txBody>
      </p:sp>
    </p:spTree>
    <p:extLst>
      <p:ext uri="{BB962C8B-B14F-4D97-AF65-F5344CB8AC3E}">
        <p14:creationId xmlns:p14="http://schemas.microsoft.com/office/powerpoint/2010/main" val="3047300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491EE9D-81F9-412A-6D2B-E22038D6DC14}"/>
              </a:ext>
            </a:extLst>
          </p:cNvPr>
          <p:cNvSpPr/>
          <p:nvPr/>
        </p:nvSpPr>
        <p:spPr>
          <a:xfrm>
            <a:off x="10877265" y="365125"/>
            <a:ext cx="931885" cy="589072"/>
          </a:xfrm>
          <a:prstGeom prst="rect">
            <a:avLst/>
          </a:prstGeom>
          <a:solidFill>
            <a:srgbClr val="FFA4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C7FBF34-50A9-9639-47FD-CCD7375CAF7B}"/>
              </a:ext>
            </a:extLst>
          </p:cNvPr>
          <p:cNvSpPr/>
          <p:nvPr/>
        </p:nvSpPr>
        <p:spPr>
          <a:xfrm>
            <a:off x="8120418" y="365125"/>
            <a:ext cx="2634018" cy="589072"/>
          </a:xfrm>
          <a:prstGeom prst="rect">
            <a:avLst/>
          </a:prstGeom>
          <a:solidFill>
            <a:srgbClr val="4344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3BF61903-A4DA-ECC3-E932-28ED3B3CE01D}"/>
              </a:ext>
            </a:extLst>
          </p:cNvPr>
          <p:cNvSpPr>
            <a:spLocks noGrp="1"/>
          </p:cNvSpPr>
          <p:nvPr>
            <p:ph sz="half" idx="1"/>
          </p:nvPr>
        </p:nvSpPr>
        <p:spPr>
          <a:xfrm>
            <a:off x="838199" y="1989606"/>
            <a:ext cx="3501788" cy="3544661"/>
          </a:xfrm>
        </p:spPr>
        <p:txBody>
          <a:bodyPr>
            <a:normAutofit fontScale="85000" lnSpcReduction="10000"/>
          </a:bodyPr>
          <a:lstStyle/>
          <a:p>
            <a:pPr marL="231775" indent="-231775">
              <a:lnSpc>
                <a:spcPct val="150000"/>
              </a:lnSpc>
              <a:buFont typeface="Arial" panose="020B0604020202020204" pitchFamily="34" charset="0"/>
              <a:buChar char="•"/>
            </a:pPr>
            <a:r>
              <a:rPr lang="en-US" sz="2000" dirty="0"/>
              <a:t>RA decline appears concentrated in approachability and relationship-building, not basic professionalism.</a:t>
            </a:r>
          </a:p>
          <a:p>
            <a:pPr marL="231775" indent="-231775">
              <a:lnSpc>
                <a:spcPct val="150000"/>
              </a:lnSpc>
              <a:buFont typeface="Arial" panose="020B0604020202020204" pitchFamily="34" charset="0"/>
              <a:buChar char="•"/>
            </a:pPr>
            <a:r>
              <a:rPr lang="en-US" sz="2000" dirty="0"/>
              <a:t>Largest item drops were “helped me get to know others” (-0.78) and “tried to get to know me” (-0.73).</a:t>
            </a:r>
          </a:p>
        </p:txBody>
      </p:sp>
      <p:sp>
        <p:nvSpPr>
          <p:cNvPr id="7" name="Title 1">
            <a:extLst>
              <a:ext uri="{FF2B5EF4-FFF2-40B4-BE49-F238E27FC236}">
                <a16:creationId xmlns:a16="http://schemas.microsoft.com/office/drawing/2014/main" id="{567DC464-5883-D4D3-CE03-E63D9FDBAC31}"/>
              </a:ext>
            </a:extLst>
          </p:cNvPr>
          <p:cNvSpPr txBox="1">
            <a:spLocks/>
          </p:cNvSpPr>
          <p:nvPr/>
        </p:nvSpPr>
        <p:spPr>
          <a:xfrm>
            <a:off x="838199" y="174053"/>
            <a:ext cx="503033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Helvetica" pitchFamily="34" charset="0"/>
                <a:ea typeface="+mj-ea"/>
                <a:cs typeface="+mj-cs"/>
              </a:defRPr>
            </a:lvl1pPr>
          </a:lstStyle>
          <a:p>
            <a:r>
              <a:rPr lang="en-US" dirty="0">
                <a:solidFill>
                  <a:srgbClr val="43444C"/>
                </a:solidFill>
                <a:latin typeface="Helvetica"/>
                <a:cs typeface="Helvetica"/>
              </a:rPr>
              <a:t>Langrock Suites</a:t>
            </a:r>
          </a:p>
          <a:p>
            <a:r>
              <a:rPr lang="en-US" sz="2800" dirty="0">
                <a:solidFill>
                  <a:srgbClr val="737582"/>
                </a:solidFill>
                <a:latin typeface="Helvetica"/>
                <a:cs typeface="Helvetica"/>
              </a:rPr>
              <a:t>Survey Findings</a:t>
            </a:r>
            <a:endParaRPr lang="en-US" dirty="0">
              <a:solidFill>
                <a:srgbClr val="737582"/>
              </a:solidFill>
            </a:endParaRPr>
          </a:p>
        </p:txBody>
      </p:sp>
      <p:pic>
        <p:nvPicPr>
          <p:cNvPr id="11" name="Picture 10">
            <a:extLst>
              <a:ext uri="{FF2B5EF4-FFF2-40B4-BE49-F238E27FC236}">
                <a16:creationId xmlns:a16="http://schemas.microsoft.com/office/drawing/2014/main" id="{B0AD383F-C58C-4C1B-A3DC-588E269DE483}"/>
              </a:ext>
            </a:extLst>
          </p:cNvPr>
          <p:cNvPicPr>
            <a:picLocks noChangeAspect="1"/>
          </p:cNvPicPr>
          <p:nvPr/>
        </p:nvPicPr>
        <p:blipFill>
          <a:blip r:embed="rId3"/>
          <a:stretch>
            <a:fillRect/>
          </a:stretch>
        </p:blipFill>
        <p:spPr>
          <a:xfrm>
            <a:off x="4558353" y="1487714"/>
            <a:ext cx="7025611" cy="4046553"/>
          </a:xfrm>
          <a:prstGeom prst="rect">
            <a:avLst/>
          </a:prstGeom>
        </p:spPr>
      </p:pic>
      <p:sp>
        <p:nvSpPr>
          <p:cNvPr id="15" name="TextBox 14">
            <a:extLst>
              <a:ext uri="{FF2B5EF4-FFF2-40B4-BE49-F238E27FC236}">
                <a16:creationId xmlns:a16="http://schemas.microsoft.com/office/drawing/2014/main" id="{E980BED8-06AA-AFA9-98DE-F9D01726AEEE}"/>
              </a:ext>
            </a:extLst>
          </p:cNvPr>
          <p:cNvSpPr txBox="1"/>
          <p:nvPr/>
        </p:nvSpPr>
        <p:spPr>
          <a:xfrm>
            <a:off x="8120418" y="296074"/>
            <a:ext cx="2634018" cy="589072"/>
          </a:xfrm>
          <a:prstGeom prst="rect">
            <a:avLst/>
          </a:prstGeom>
          <a:noFill/>
        </p:spPr>
        <p:txBody>
          <a:bodyPr wrap="square">
            <a:spAutoFit/>
          </a:bodyPr>
          <a:lstStyle/>
          <a:p>
            <a:pPr algn="ctr">
              <a:lnSpc>
                <a:spcPct val="150000"/>
              </a:lnSpc>
            </a:pPr>
            <a:r>
              <a:rPr lang="en-US" sz="2400" b="1" dirty="0">
                <a:solidFill>
                  <a:schemeClr val="bg1"/>
                </a:solidFill>
              </a:rPr>
              <a:t>Response Rate</a:t>
            </a:r>
          </a:p>
        </p:txBody>
      </p:sp>
      <p:sp>
        <p:nvSpPr>
          <p:cNvPr id="19" name="TextBox 18">
            <a:extLst>
              <a:ext uri="{FF2B5EF4-FFF2-40B4-BE49-F238E27FC236}">
                <a16:creationId xmlns:a16="http://schemas.microsoft.com/office/drawing/2014/main" id="{A7153DF2-48C7-8FB2-AD27-F93FAF8A8884}"/>
              </a:ext>
            </a:extLst>
          </p:cNvPr>
          <p:cNvSpPr txBox="1"/>
          <p:nvPr/>
        </p:nvSpPr>
        <p:spPr>
          <a:xfrm>
            <a:off x="10691599" y="203902"/>
            <a:ext cx="1299523" cy="754694"/>
          </a:xfrm>
          <a:prstGeom prst="rect">
            <a:avLst/>
          </a:prstGeom>
          <a:noFill/>
        </p:spPr>
        <p:txBody>
          <a:bodyPr wrap="square">
            <a:spAutoFit/>
          </a:bodyPr>
          <a:lstStyle/>
          <a:p>
            <a:pPr algn="ctr">
              <a:lnSpc>
                <a:spcPct val="150000"/>
              </a:lnSpc>
            </a:pPr>
            <a:r>
              <a:rPr lang="en-US" sz="3200" b="1" dirty="0">
                <a:solidFill>
                  <a:srgbClr val="43444C"/>
                </a:solidFill>
              </a:rPr>
              <a:t>54%</a:t>
            </a:r>
          </a:p>
        </p:txBody>
      </p:sp>
    </p:spTree>
    <p:extLst>
      <p:ext uri="{BB962C8B-B14F-4D97-AF65-F5344CB8AC3E}">
        <p14:creationId xmlns:p14="http://schemas.microsoft.com/office/powerpoint/2010/main" val="4082780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09BA962-A92D-ED2B-8B2F-F164BE32FDE8}"/>
              </a:ext>
            </a:extLst>
          </p:cNvPr>
          <p:cNvSpPr>
            <a:spLocks noGrp="1"/>
          </p:cNvSpPr>
          <p:nvPr>
            <p:ph sz="half" idx="1"/>
          </p:nvPr>
        </p:nvSpPr>
        <p:spPr/>
        <p:txBody>
          <a:bodyPr/>
          <a:lstStyle/>
          <a:p>
            <a:pPr marL="457200" indent="-457200">
              <a:buFont typeface="Arial" panose="020B0604020202020204" pitchFamily="34" charset="0"/>
              <a:buChar char="•"/>
            </a:pPr>
            <a:r>
              <a:rPr lang="en-US" dirty="0"/>
              <a:t>Response Rate: ~10%</a:t>
            </a:r>
          </a:p>
          <a:p>
            <a:pPr marL="457200" indent="-457200">
              <a:buFont typeface="Arial" panose="020B0604020202020204" pitchFamily="34" charset="0"/>
              <a:buChar char="•"/>
            </a:pPr>
            <a:r>
              <a:rPr lang="en-US" dirty="0"/>
              <a:t>Key Findings:</a:t>
            </a:r>
          </a:p>
          <a:p>
            <a:pPr marL="1143000" lvl="1" indent="-457200"/>
            <a:r>
              <a:rPr lang="en-US" dirty="0"/>
              <a:t>Poor RA Support</a:t>
            </a:r>
          </a:p>
          <a:p>
            <a:pPr marL="1143000" lvl="1" indent="-457200"/>
            <a:r>
              <a:rPr lang="en-US" dirty="0"/>
              <a:t>Reduced Interest in 2025</a:t>
            </a:r>
          </a:p>
          <a:p>
            <a:endParaRPr lang="en-US" dirty="0"/>
          </a:p>
        </p:txBody>
      </p:sp>
      <p:sp>
        <p:nvSpPr>
          <p:cNvPr id="3" name="Rectangle 2">
            <a:extLst>
              <a:ext uri="{FF2B5EF4-FFF2-40B4-BE49-F238E27FC236}">
                <a16:creationId xmlns:a16="http://schemas.microsoft.com/office/drawing/2014/main" id="{0B19211A-E157-4361-C9DB-2D4AA206A707}"/>
              </a:ext>
            </a:extLst>
          </p:cNvPr>
          <p:cNvSpPr/>
          <p:nvPr/>
        </p:nvSpPr>
        <p:spPr>
          <a:xfrm>
            <a:off x="10877265" y="365125"/>
            <a:ext cx="931885" cy="589072"/>
          </a:xfrm>
          <a:prstGeom prst="rect">
            <a:avLst/>
          </a:prstGeom>
          <a:solidFill>
            <a:srgbClr val="D426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A8A6A07-E7CF-4CAE-9BA4-2FE7A32232DA}"/>
              </a:ext>
            </a:extLst>
          </p:cNvPr>
          <p:cNvSpPr/>
          <p:nvPr/>
        </p:nvSpPr>
        <p:spPr>
          <a:xfrm>
            <a:off x="8120418" y="365125"/>
            <a:ext cx="2634018" cy="589072"/>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C2341865-BA80-98EC-A136-1BF0E7C8640B}"/>
              </a:ext>
            </a:extLst>
          </p:cNvPr>
          <p:cNvSpPr txBox="1">
            <a:spLocks/>
          </p:cNvSpPr>
          <p:nvPr/>
        </p:nvSpPr>
        <p:spPr>
          <a:xfrm>
            <a:off x="838199" y="160405"/>
            <a:ext cx="6859138" cy="1325563"/>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chemeClr val="tx1"/>
                </a:solidFill>
                <a:latin typeface="Helvetica" pitchFamily="34" charset="0"/>
                <a:ea typeface="+mj-ea"/>
                <a:cs typeface="+mj-cs"/>
              </a:defRPr>
            </a:lvl1pPr>
          </a:lstStyle>
          <a:p>
            <a:r>
              <a:rPr lang="en-US" dirty="0">
                <a:solidFill>
                  <a:srgbClr val="C00000"/>
                </a:solidFill>
                <a:latin typeface="Helvetica"/>
                <a:cs typeface="Helvetica"/>
              </a:rPr>
              <a:t>Hull Apartments &amp; Suites</a:t>
            </a:r>
          </a:p>
          <a:p>
            <a:r>
              <a:rPr lang="en-US" sz="2800" dirty="0">
                <a:solidFill>
                  <a:schemeClr val="bg2">
                    <a:lumMod val="25000"/>
                  </a:schemeClr>
                </a:solidFill>
                <a:latin typeface="Helvetica"/>
                <a:cs typeface="Helvetica"/>
              </a:rPr>
              <a:t>Survey Findings</a:t>
            </a:r>
            <a:endParaRPr lang="en-US" dirty="0">
              <a:solidFill>
                <a:schemeClr val="bg2">
                  <a:lumMod val="25000"/>
                </a:schemeClr>
              </a:solidFill>
            </a:endParaRPr>
          </a:p>
        </p:txBody>
      </p:sp>
      <p:sp>
        <p:nvSpPr>
          <p:cNvPr id="8" name="TextBox 7">
            <a:extLst>
              <a:ext uri="{FF2B5EF4-FFF2-40B4-BE49-F238E27FC236}">
                <a16:creationId xmlns:a16="http://schemas.microsoft.com/office/drawing/2014/main" id="{F07602D2-91F8-F6C9-32C9-C3C91C75C3AF}"/>
              </a:ext>
            </a:extLst>
          </p:cNvPr>
          <p:cNvSpPr txBox="1"/>
          <p:nvPr/>
        </p:nvSpPr>
        <p:spPr>
          <a:xfrm>
            <a:off x="8120418" y="296074"/>
            <a:ext cx="2634018" cy="589072"/>
          </a:xfrm>
          <a:prstGeom prst="rect">
            <a:avLst/>
          </a:prstGeom>
          <a:noFill/>
        </p:spPr>
        <p:txBody>
          <a:bodyPr wrap="square">
            <a:spAutoFit/>
          </a:bodyPr>
          <a:lstStyle/>
          <a:p>
            <a:pPr algn="ctr">
              <a:lnSpc>
                <a:spcPct val="150000"/>
              </a:lnSpc>
            </a:pPr>
            <a:r>
              <a:rPr lang="en-US" sz="2400" b="1" dirty="0">
                <a:solidFill>
                  <a:schemeClr val="bg1"/>
                </a:solidFill>
              </a:rPr>
              <a:t>Response Rate</a:t>
            </a:r>
          </a:p>
        </p:txBody>
      </p:sp>
      <p:sp>
        <p:nvSpPr>
          <p:cNvPr id="9" name="TextBox 8">
            <a:extLst>
              <a:ext uri="{FF2B5EF4-FFF2-40B4-BE49-F238E27FC236}">
                <a16:creationId xmlns:a16="http://schemas.microsoft.com/office/drawing/2014/main" id="{15245C9E-0F26-FE0C-7087-08CD85DA6041}"/>
              </a:ext>
            </a:extLst>
          </p:cNvPr>
          <p:cNvSpPr txBox="1"/>
          <p:nvPr/>
        </p:nvSpPr>
        <p:spPr>
          <a:xfrm>
            <a:off x="10691599" y="203902"/>
            <a:ext cx="1299523" cy="754694"/>
          </a:xfrm>
          <a:prstGeom prst="rect">
            <a:avLst/>
          </a:prstGeom>
          <a:noFill/>
        </p:spPr>
        <p:txBody>
          <a:bodyPr wrap="square">
            <a:spAutoFit/>
          </a:bodyPr>
          <a:lstStyle/>
          <a:p>
            <a:pPr algn="ctr">
              <a:lnSpc>
                <a:spcPct val="150000"/>
              </a:lnSpc>
            </a:pPr>
            <a:r>
              <a:rPr lang="en-US" sz="3200" b="1" dirty="0">
                <a:solidFill>
                  <a:schemeClr val="bg1"/>
                </a:solidFill>
              </a:rPr>
              <a:t>10%</a:t>
            </a:r>
          </a:p>
        </p:txBody>
      </p:sp>
    </p:spTree>
    <p:extLst>
      <p:ext uri="{BB962C8B-B14F-4D97-AF65-F5344CB8AC3E}">
        <p14:creationId xmlns:p14="http://schemas.microsoft.com/office/powerpoint/2010/main" val="1976978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B6D5E-4EF9-AE7C-BDDB-1D5E83199F24}"/>
              </a:ext>
            </a:extLst>
          </p:cNvPr>
          <p:cNvSpPr>
            <a:spLocks noGrp="1"/>
          </p:cNvSpPr>
          <p:nvPr>
            <p:ph type="title"/>
          </p:nvPr>
        </p:nvSpPr>
        <p:spPr/>
        <p:txBody>
          <a:bodyPr/>
          <a:lstStyle/>
          <a:p>
            <a:r>
              <a:rPr lang="en-US" b="0" dirty="0">
                <a:latin typeface="Helvetica"/>
                <a:cs typeface="Helvetica"/>
              </a:rPr>
              <a:t>Nielsen &amp; Knudsen Analysis</a:t>
            </a:r>
            <a:endParaRPr lang="en-US" b="0" dirty="0"/>
          </a:p>
        </p:txBody>
      </p:sp>
      <p:sp>
        <p:nvSpPr>
          <p:cNvPr id="4" name="Content Placeholder 3">
            <a:extLst>
              <a:ext uri="{FF2B5EF4-FFF2-40B4-BE49-F238E27FC236}">
                <a16:creationId xmlns:a16="http://schemas.microsoft.com/office/drawing/2014/main" id="{812C81C7-FDA3-507C-0A11-63B6BFB5CBF2}"/>
              </a:ext>
            </a:extLst>
          </p:cNvPr>
          <p:cNvSpPr>
            <a:spLocks noGrp="1"/>
          </p:cNvSpPr>
          <p:nvPr>
            <p:ph sz="half" idx="1"/>
          </p:nvPr>
        </p:nvSpPr>
        <p:spPr/>
        <p:txBody>
          <a:bodyPr/>
          <a:lstStyle/>
          <a:p>
            <a:pPr marL="457200" indent="-457200">
              <a:buFont typeface="Arial" panose="020B0604020202020204" pitchFamily="34" charset="0"/>
              <a:buChar char="•"/>
            </a:pPr>
            <a:r>
              <a:rPr lang="en-US" dirty="0"/>
              <a:t>Response Rate: Very Low </a:t>
            </a:r>
          </a:p>
          <a:p>
            <a:pPr marL="457200" indent="-457200">
              <a:buFont typeface="Arial" panose="020B0604020202020204" pitchFamily="34" charset="0"/>
              <a:buChar char="•"/>
            </a:pPr>
            <a:r>
              <a:rPr lang="en-US" dirty="0"/>
              <a:t>Key Findings: </a:t>
            </a:r>
          </a:p>
          <a:p>
            <a:pPr marL="1143000" lvl="1" indent="-457200"/>
            <a:r>
              <a:rPr lang="en-US" dirty="0"/>
              <a:t>Cleanliness Issues</a:t>
            </a:r>
          </a:p>
          <a:p>
            <a:pPr marL="1143000" lvl="1" indent="-457200"/>
            <a:r>
              <a:rPr lang="en-US" dirty="0"/>
              <a:t>Pests and Rodents</a:t>
            </a:r>
          </a:p>
          <a:p>
            <a:endParaRPr lang="en-US" dirty="0"/>
          </a:p>
        </p:txBody>
      </p:sp>
      <p:pic>
        <p:nvPicPr>
          <p:cNvPr id="6" name="Content Placeholder 9" descr="A graph of a number of people&#10;&#10;AI-generated content may be incorrect.">
            <a:extLst>
              <a:ext uri="{FF2B5EF4-FFF2-40B4-BE49-F238E27FC236}">
                <a16:creationId xmlns:a16="http://schemas.microsoft.com/office/drawing/2014/main" id="{C41E8925-5193-7A3B-EFCE-4B70D65CF921}"/>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172200" y="1690688"/>
            <a:ext cx="5181600" cy="3679598"/>
          </a:xfrm>
        </p:spPr>
      </p:pic>
    </p:spTree>
    <p:extLst>
      <p:ext uri="{BB962C8B-B14F-4D97-AF65-F5344CB8AC3E}">
        <p14:creationId xmlns:p14="http://schemas.microsoft.com/office/powerpoint/2010/main" val="1278649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2DC30-7BDD-F85A-E28D-0EFC8BFD302D}"/>
              </a:ext>
            </a:extLst>
          </p:cNvPr>
          <p:cNvSpPr>
            <a:spLocks noGrp="1"/>
          </p:cNvSpPr>
          <p:nvPr>
            <p:ph type="title"/>
          </p:nvPr>
        </p:nvSpPr>
        <p:spPr/>
        <p:txBody>
          <a:bodyPr/>
          <a:lstStyle/>
          <a:p>
            <a:r>
              <a:rPr lang="en-US" b="0" dirty="0"/>
              <a:t>Facilities Summary</a:t>
            </a:r>
          </a:p>
        </p:txBody>
      </p:sp>
      <p:sp>
        <p:nvSpPr>
          <p:cNvPr id="3" name="Text Placeholder 2">
            <a:extLst>
              <a:ext uri="{FF2B5EF4-FFF2-40B4-BE49-F238E27FC236}">
                <a16:creationId xmlns:a16="http://schemas.microsoft.com/office/drawing/2014/main" id="{2BA0ABED-5D75-858E-6C07-7B55A1C38CAE}"/>
              </a:ext>
            </a:extLst>
          </p:cNvPr>
          <p:cNvSpPr>
            <a:spLocks noGrp="1"/>
          </p:cNvSpPr>
          <p:nvPr>
            <p:ph type="body" idx="1"/>
          </p:nvPr>
        </p:nvSpPr>
        <p:spPr/>
        <p:txBody>
          <a:bodyPr/>
          <a:lstStyle/>
          <a:p>
            <a:r>
              <a:rPr lang="en-US" b="0" dirty="0"/>
              <a:t>Feedback</a:t>
            </a:r>
            <a:r>
              <a:rPr lang="en-US" dirty="0"/>
              <a:t> </a:t>
            </a:r>
          </a:p>
        </p:txBody>
      </p:sp>
      <p:sp>
        <p:nvSpPr>
          <p:cNvPr id="4" name="Content Placeholder 3">
            <a:extLst>
              <a:ext uri="{FF2B5EF4-FFF2-40B4-BE49-F238E27FC236}">
                <a16:creationId xmlns:a16="http://schemas.microsoft.com/office/drawing/2014/main" id="{AC5A1B41-8D96-48CF-3EC2-540302ABCDFA}"/>
              </a:ext>
            </a:extLst>
          </p:cNvPr>
          <p:cNvSpPr>
            <a:spLocks noGrp="1"/>
          </p:cNvSpPr>
          <p:nvPr>
            <p:ph sz="half" idx="2"/>
          </p:nvPr>
        </p:nvSpPr>
        <p:spPr/>
        <p:txBody>
          <a:bodyPr vert="horz" lIns="91440" tIns="45720" rIns="91440" bIns="45720" rtlCol="0" anchor="t">
            <a:normAutofit/>
          </a:bodyPr>
          <a:lstStyle/>
          <a:p>
            <a:pPr marL="285750" indent="-285750">
              <a:buFont typeface="Arial" panose="020B0604020202020204" pitchFamily="34" charset="0"/>
              <a:buChar char="•"/>
            </a:pPr>
            <a:r>
              <a:rPr lang="en-US" sz="1800" dirty="0"/>
              <a:t>Laundry is Costly</a:t>
            </a:r>
          </a:p>
          <a:p>
            <a:pPr marL="285750" indent="-285750">
              <a:buFont typeface="Arial" panose="020B0604020202020204" pitchFamily="34" charset="0"/>
              <a:buChar char="•"/>
            </a:pPr>
            <a:r>
              <a:rPr lang="en-US" sz="1800" dirty="0"/>
              <a:t>Machines Often Out of Order</a:t>
            </a:r>
          </a:p>
          <a:p>
            <a:pPr marL="285750" indent="-285750">
              <a:buFont typeface="Arial" panose="020B0604020202020204" pitchFamily="34" charset="0"/>
              <a:buChar char="•"/>
            </a:pPr>
            <a:r>
              <a:rPr lang="en-US" sz="1800" dirty="0"/>
              <a:t>Poor Dorm Cleanliness at Move-In</a:t>
            </a:r>
          </a:p>
          <a:p>
            <a:pPr marL="285750" indent="-285750">
              <a:buFont typeface="Arial" panose="020B0604020202020204" pitchFamily="34" charset="0"/>
              <a:buChar char="•"/>
            </a:pPr>
            <a:r>
              <a:rPr lang="en-US" sz="1800" dirty="0"/>
              <a:t>Communal Bathrooms in Knudsen/Nielsen Lack Cleanliness </a:t>
            </a:r>
          </a:p>
          <a:p>
            <a:pPr marL="285750" indent="-285750">
              <a:buFont typeface="Arial" panose="020B0604020202020204" pitchFamily="34" charset="0"/>
              <a:buChar char="•"/>
            </a:pPr>
            <a:r>
              <a:rPr lang="en-US" sz="1800" dirty="0">
                <a:latin typeface="Helvetica"/>
                <a:cs typeface="Helvetica"/>
              </a:rPr>
              <a:t>Very Loud During Quiet Hours</a:t>
            </a:r>
            <a:endParaRPr lang="en-US" sz="1800" dirty="0">
              <a:cs typeface="Helvetica"/>
            </a:endParaRPr>
          </a:p>
          <a:p>
            <a:endParaRPr lang="en-US" dirty="0">
              <a:cs typeface="Helvetica" pitchFamily="34" charset="0"/>
            </a:endParaRPr>
          </a:p>
        </p:txBody>
      </p:sp>
      <p:sp>
        <p:nvSpPr>
          <p:cNvPr id="5" name="Text Placeholder 4">
            <a:extLst>
              <a:ext uri="{FF2B5EF4-FFF2-40B4-BE49-F238E27FC236}">
                <a16:creationId xmlns:a16="http://schemas.microsoft.com/office/drawing/2014/main" id="{343C686B-0270-E486-FCF0-76F07AFA0A24}"/>
              </a:ext>
            </a:extLst>
          </p:cNvPr>
          <p:cNvSpPr>
            <a:spLocks noGrp="1"/>
          </p:cNvSpPr>
          <p:nvPr>
            <p:ph type="body" sz="quarter" idx="3"/>
          </p:nvPr>
        </p:nvSpPr>
        <p:spPr/>
        <p:txBody>
          <a:bodyPr/>
          <a:lstStyle/>
          <a:p>
            <a:r>
              <a:rPr lang="en-US" b="0" dirty="0"/>
              <a:t>Suggestions</a:t>
            </a:r>
          </a:p>
        </p:txBody>
      </p:sp>
      <p:sp>
        <p:nvSpPr>
          <p:cNvPr id="6" name="Content Placeholder 5">
            <a:extLst>
              <a:ext uri="{FF2B5EF4-FFF2-40B4-BE49-F238E27FC236}">
                <a16:creationId xmlns:a16="http://schemas.microsoft.com/office/drawing/2014/main" id="{B0FE7A3D-3964-FBA3-7578-9AE6C33204FE}"/>
              </a:ext>
            </a:extLst>
          </p:cNvPr>
          <p:cNvSpPr>
            <a:spLocks noGrp="1"/>
          </p:cNvSpPr>
          <p:nvPr>
            <p:ph sz="quarter" idx="4"/>
          </p:nvPr>
        </p:nvSpPr>
        <p:spPr/>
        <p:txBody>
          <a:bodyPr>
            <a:normAutofit/>
          </a:bodyPr>
          <a:lstStyle/>
          <a:p>
            <a:pPr marL="285750" indent="-285750">
              <a:buFont typeface="Arial" panose="020B0604020202020204" pitchFamily="34" charset="0"/>
              <a:buChar char="•"/>
            </a:pPr>
            <a:r>
              <a:rPr lang="en-US" sz="1800" dirty="0"/>
              <a:t>Include Laundry in Housing Fees</a:t>
            </a:r>
          </a:p>
          <a:p>
            <a:pPr marL="285750" indent="-285750">
              <a:buFont typeface="Arial" panose="020B0604020202020204" pitchFamily="34" charset="0"/>
              <a:buChar char="•"/>
            </a:pPr>
            <a:r>
              <a:rPr lang="en-US" sz="1800" dirty="0"/>
              <a:t>Check each residence room prior to move-in for cleanliness and ensure that everything is operational</a:t>
            </a:r>
          </a:p>
          <a:p>
            <a:pPr marL="285750" indent="-285750">
              <a:buFont typeface="Arial" panose="020B0604020202020204" pitchFamily="34" charset="0"/>
              <a:buChar char="•"/>
            </a:pPr>
            <a:r>
              <a:rPr lang="en-US" sz="1800" dirty="0"/>
              <a:t>Improve Daily Cleaning</a:t>
            </a:r>
          </a:p>
          <a:p>
            <a:pPr marL="285750" indent="-285750">
              <a:buFont typeface="Arial" panose="020B0604020202020204" pitchFamily="34" charset="0"/>
              <a:buChar char="•"/>
            </a:pPr>
            <a:r>
              <a:rPr lang="en-US" sz="1800" dirty="0"/>
              <a:t>Whiteboard in Lounges</a:t>
            </a:r>
          </a:p>
          <a:p>
            <a:pPr marL="285750" indent="-285750">
              <a:buFont typeface="Arial" panose="020B0604020202020204" pitchFamily="34" charset="0"/>
              <a:buChar char="•"/>
            </a:pPr>
            <a:r>
              <a:rPr lang="en-US" sz="1800" dirty="0"/>
              <a:t>Investigate and Enforce Marijuana Odors</a:t>
            </a:r>
          </a:p>
          <a:p>
            <a:pPr marL="285750" indent="-285750">
              <a:buFont typeface="Arial" panose="020B0604020202020204" pitchFamily="34" charset="0"/>
              <a:buChar char="•"/>
            </a:pPr>
            <a:r>
              <a:rPr lang="en-US" sz="1800" dirty="0"/>
              <a:t>Enforcing Quiet Hours</a:t>
            </a:r>
          </a:p>
        </p:txBody>
      </p:sp>
    </p:spTree>
    <p:extLst>
      <p:ext uri="{BB962C8B-B14F-4D97-AF65-F5344CB8AC3E}">
        <p14:creationId xmlns:p14="http://schemas.microsoft.com/office/powerpoint/2010/main" val="159811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E0CFA-8123-DF95-C0C9-27BD919C4C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47521F-53D0-844B-6F95-7E72AB37C54D}"/>
              </a:ext>
            </a:extLst>
          </p:cNvPr>
          <p:cNvSpPr txBox="1"/>
          <p:nvPr/>
        </p:nvSpPr>
        <p:spPr>
          <a:xfrm>
            <a:off x="444500" y="4127500"/>
            <a:ext cx="10934700" cy="769441"/>
          </a:xfrm>
          <a:prstGeom prst="rect">
            <a:avLst/>
          </a:prstGeom>
          <a:noFill/>
        </p:spPr>
        <p:txBody>
          <a:bodyPr wrap="square" rtlCol="0">
            <a:spAutoFit/>
          </a:bodyPr>
          <a:lstStyle/>
          <a:p>
            <a:r>
              <a:rPr lang="en-US" sz="4400" dirty="0">
                <a:solidFill>
                  <a:srgbClr val="D42645"/>
                </a:solidFill>
                <a:latin typeface="Helvetica" pitchFamily="2" charset="0"/>
              </a:rPr>
              <a:t>Dining</a:t>
            </a:r>
            <a:r>
              <a:rPr lang="en-US" sz="4400" dirty="0">
                <a:latin typeface="Helvetica" pitchFamily="2" charset="0"/>
              </a:rPr>
              <a:t> Experience</a:t>
            </a:r>
          </a:p>
        </p:txBody>
      </p:sp>
      <p:sp>
        <p:nvSpPr>
          <p:cNvPr id="3" name="TextBox 2">
            <a:extLst>
              <a:ext uri="{FF2B5EF4-FFF2-40B4-BE49-F238E27FC236}">
                <a16:creationId xmlns:a16="http://schemas.microsoft.com/office/drawing/2014/main" id="{36F1DE4A-5A30-3CA9-86C0-4C4DCF3D33BD}"/>
              </a:ext>
            </a:extLst>
          </p:cNvPr>
          <p:cNvSpPr txBox="1"/>
          <p:nvPr/>
        </p:nvSpPr>
        <p:spPr>
          <a:xfrm>
            <a:off x="444500" y="4896941"/>
            <a:ext cx="10807700" cy="369332"/>
          </a:xfrm>
          <a:prstGeom prst="rect">
            <a:avLst/>
          </a:prstGeom>
          <a:noFill/>
        </p:spPr>
        <p:txBody>
          <a:bodyPr wrap="square" rtlCol="0">
            <a:spAutoFit/>
          </a:bodyPr>
          <a:lstStyle/>
          <a:p>
            <a:r>
              <a:rPr lang="en-US" dirty="0"/>
              <a:t>Students reported several dining ideas and suggestions in their free-form responses. </a:t>
            </a:r>
          </a:p>
        </p:txBody>
      </p:sp>
      <p:pic>
        <p:nvPicPr>
          <p:cNvPr id="5" name="Graphic 4" descr="Food Safety outline">
            <a:extLst>
              <a:ext uri="{FF2B5EF4-FFF2-40B4-BE49-F238E27FC236}">
                <a16:creationId xmlns:a16="http://schemas.microsoft.com/office/drawing/2014/main" id="{2604805B-1380-A991-A89C-F117FD9342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31200" y="1993901"/>
            <a:ext cx="2133599" cy="2133599"/>
          </a:xfrm>
          <a:prstGeom prst="rect">
            <a:avLst/>
          </a:prstGeom>
        </p:spPr>
      </p:pic>
    </p:spTree>
    <p:extLst>
      <p:ext uri="{BB962C8B-B14F-4D97-AF65-F5344CB8AC3E}">
        <p14:creationId xmlns:p14="http://schemas.microsoft.com/office/powerpoint/2010/main" val="2762299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86EE56-83D0-79FC-9D73-5A193C74465D}"/>
              </a:ext>
            </a:extLst>
          </p:cNvPr>
          <p:cNvSpPr txBox="1"/>
          <p:nvPr/>
        </p:nvSpPr>
        <p:spPr>
          <a:xfrm>
            <a:off x="672142" y="533400"/>
            <a:ext cx="10947400" cy="3939540"/>
          </a:xfrm>
          <a:prstGeom prst="rect">
            <a:avLst/>
          </a:prstGeom>
          <a:noFill/>
        </p:spPr>
        <p:txBody>
          <a:bodyPr wrap="square" rtlCol="0">
            <a:spAutoFit/>
          </a:bodyPr>
          <a:lstStyle/>
          <a:p>
            <a:r>
              <a:rPr lang="en-US" sz="4400" dirty="0">
                <a:latin typeface="Helvetica" pitchFamily="2" charset="0"/>
              </a:rPr>
              <a:t>Dining</a:t>
            </a:r>
          </a:p>
          <a:p>
            <a:endParaRPr lang="en-US" sz="4400" dirty="0">
              <a:latin typeface="Helvetica" pitchFamily="2" charset="0"/>
            </a:endParaRPr>
          </a:p>
          <a:p>
            <a:r>
              <a:rPr lang="en-US" dirty="0">
                <a:latin typeface="Helvetica" pitchFamily="2" charset="0"/>
              </a:rPr>
              <a:t>More Fresh Fruit and Vegetables</a:t>
            </a:r>
          </a:p>
          <a:p>
            <a:endParaRPr lang="en-US" dirty="0">
              <a:latin typeface="Helvetica" pitchFamily="2" charset="0"/>
            </a:endParaRPr>
          </a:p>
          <a:p>
            <a:r>
              <a:rPr lang="en-US" dirty="0">
                <a:latin typeface="Helvetica" pitchFamily="2" charset="0"/>
              </a:rPr>
              <a:t>Perception of Poor Quality Meat</a:t>
            </a:r>
          </a:p>
          <a:p>
            <a:endParaRPr lang="en-US" dirty="0">
              <a:latin typeface="Helvetica" pitchFamily="2" charset="0"/>
            </a:endParaRPr>
          </a:p>
          <a:p>
            <a:r>
              <a:rPr lang="en-US" dirty="0">
                <a:latin typeface="Helvetica" pitchFamily="2" charset="0"/>
              </a:rPr>
              <a:t>Greater Variety for Dietary Restrictions</a:t>
            </a:r>
          </a:p>
          <a:p>
            <a:endParaRPr lang="en-US" dirty="0">
              <a:latin typeface="Helvetica" pitchFamily="2" charset="0"/>
            </a:endParaRPr>
          </a:p>
          <a:p>
            <a:r>
              <a:rPr lang="en-US" dirty="0">
                <a:latin typeface="Helvetica" pitchFamily="2" charset="0"/>
              </a:rPr>
              <a:t>Ensuring Food Meets Safety Standards</a:t>
            </a:r>
          </a:p>
          <a:p>
            <a:endParaRPr lang="en-US" dirty="0">
              <a:latin typeface="Helvetica" pitchFamily="2" charset="0"/>
            </a:endParaRPr>
          </a:p>
          <a:p>
            <a:r>
              <a:rPr lang="en-US" dirty="0">
                <a:latin typeface="Helvetica" pitchFamily="2" charset="0"/>
              </a:rPr>
              <a:t>Diversity in Meal Options  </a:t>
            </a:r>
          </a:p>
        </p:txBody>
      </p:sp>
      <p:cxnSp>
        <p:nvCxnSpPr>
          <p:cNvPr id="4" name="Straight Connector 3">
            <a:extLst>
              <a:ext uri="{FF2B5EF4-FFF2-40B4-BE49-F238E27FC236}">
                <a16:creationId xmlns:a16="http://schemas.microsoft.com/office/drawing/2014/main" id="{DE86E683-D045-C217-B11E-7B13B6E6F2B7}"/>
              </a:ext>
            </a:extLst>
          </p:cNvPr>
          <p:cNvCxnSpPr/>
          <p:nvPr/>
        </p:nvCxnSpPr>
        <p:spPr>
          <a:xfrm>
            <a:off x="673100" y="2286000"/>
            <a:ext cx="6375400" cy="0"/>
          </a:xfrm>
          <a:prstGeom prst="line">
            <a:avLst/>
          </a:prstGeom>
          <a:ln w="12700">
            <a:solidFill>
              <a:srgbClr val="D42645"/>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7DFC597-B655-85E6-2937-4980A008A582}"/>
              </a:ext>
            </a:extLst>
          </p:cNvPr>
          <p:cNvCxnSpPr/>
          <p:nvPr/>
        </p:nvCxnSpPr>
        <p:spPr>
          <a:xfrm>
            <a:off x="673100" y="2857500"/>
            <a:ext cx="6375400" cy="0"/>
          </a:xfrm>
          <a:prstGeom prst="line">
            <a:avLst/>
          </a:prstGeom>
          <a:ln w="12700">
            <a:solidFill>
              <a:srgbClr val="D42645"/>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1C3897A-380C-0D86-9C04-D0D14A5345FD}"/>
              </a:ext>
            </a:extLst>
          </p:cNvPr>
          <p:cNvCxnSpPr/>
          <p:nvPr/>
        </p:nvCxnSpPr>
        <p:spPr>
          <a:xfrm>
            <a:off x="673100" y="3429000"/>
            <a:ext cx="6375400" cy="0"/>
          </a:xfrm>
          <a:prstGeom prst="line">
            <a:avLst/>
          </a:prstGeom>
          <a:ln w="12700">
            <a:solidFill>
              <a:srgbClr val="D42645"/>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9EE0CCB-BB96-7A5B-1B03-160A5D5CA667}"/>
              </a:ext>
            </a:extLst>
          </p:cNvPr>
          <p:cNvCxnSpPr/>
          <p:nvPr/>
        </p:nvCxnSpPr>
        <p:spPr>
          <a:xfrm>
            <a:off x="673100" y="3987800"/>
            <a:ext cx="6375400" cy="0"/>
          </a:xfrm>
          <a:prstGeom prst="line">
            <a:avLst/>
          </a:prstGeom>
          <a:ln w="12700">
            <a:solidFill>
              <a:srgbClr val="D42645"/>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0A4522A-B631-8528-169D-99187CF6717B}"/>
              </a:ext>
            </a:extLst>
          </p:cNvPr>
          <p:cNvCxnSpPr/>
          <p:nvPr/>
        </p:nvCxnSpPr>
        <p:spPr>
          <a:xfrm>
            <a:off x="673100" y="1816100"/>
            <a:ext cx="6375400" cy="0"/>
          </a:xfrm>
          <a:prstGeom prst="line">
            <a:avLst/>
          </a:prstGeom>
          <a:ln w="12700">
            <a:solidFill>
              <a:srgbClr val="D42645"/>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4C9329C-0058-29EE-A968-AFBB9AF74C00}"/>
              </a:ext>
            </a:extLst>
          </p:cNvPr>
          <p:cNvCxnSpPr/>
          <p:nvPr/>
        </p:nvCxnSpPr>
        <p:spPr>
          <a:xfrm>
            <a:off x="673100" y="4472940"/>
            <a:ext cx="6375400" cy="0"/>
          </a:xfrm>
          <a:prstGeom prst="line">
            <a:avLst/>
          </a:prstGeom>
          <a:ln w="12700">
            <a:solidFill>
              <a:srgbClr val="D42645"/>
            </a:solidFill>
          </a:ln>
        </p:spPr>
        <p:style>
          <a:lnRef idx="1">
            <a:schemeClr val="accent1"/>
          </a:lnRef>
          <a:fillRef idx="0">
            <a:schemeClr val="accent1"/>
          </a:fillRef>
          <a:effectRef idx="0">
            <a:schemeClr val="accent1"/>
          </a:effectRef>
          <a:fontRef idx="minor">
            <a:schemeClr val="tx1"/>
          </a:fontRef>
        </p:style>
      </p:cxnSp>
      <p:pic>
        <p:nvPicPr>
          <p:cNvPr id="15" name="Graphic 14" descr="Cherries outline">
            <a:extLst>
              <a:ext uri="{FF2B5EF4-FFF2-40B4-BE49-F238E27FC236}">
                <a16:creationId xmlns:a16="http://schemas.microsoft.com/office/drawing/2014/main" id="{77CAA4A6-1C3B-4CA7-C187-6CAB65DF6B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81143" y="2286000"/>
            <a:ext cx="1923143" cy="1923143"/>
          </a:xfrm>
          <a:prstGeom prst="rect">
            <a:avLst/>
          </a:prstGeom>
        </p:spPr>
      </p:pic>
    </p:spTree>
    <p:extLst>
      <p:ext uri="{BB962C8B-B14F-4D97-AF65-F5344CB8AC3E}">
        <p14:creationId xmlns:p14="http://schemas.microsoft.com/office/powerpoint/2010/main" val="53662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3D894-ACEB-B2B5-86A6-26C9CD4B79A9}"/>
              </a:ext>
            </a:extLst>
          </p:cNvPr>
          <p:cNvSpPr>
            <a:spLocks noGrp="1"/>
          </p:cNvSpPr>
          <p:nvPr>
            <p:ph type="title"/>
          </p:nvPr>
        </p:nvSpPr>
        <p:spPr/>
        <p:txBody>
          <a:bodyPr/>
          <a:lstStyle/>
          <a:p>
            <a:r>
              <a:rPr lang="en-US" b="0" dirty="0"/>
              <a:t>Dining Summary</a:t>
            </a:r>
          </a:p>
        </p:txBody>
      </p:sp>
      <p:sp>
        <p:nvSpPr>
          <p:cNvPr id="3" name="Text Placeholder 2">
            <a:extLst>
              <a:ext uri="{FF2B5EF4-FFF2-40B4-BE49-F238E27FC236}">
                <a16:creationId xmlns:a16="http://schemas.microsoft.com/office/drawing/2014/main" id="{4174FCE9-20E4-5F7D-08DC-D5A9514A85C7}"/>
              </a:ext>
            </a:extLst>
          </p:cNvPr>
          <p:cNvSpPr>
            <a:spLocks noGrp="1"/>
          </p:cNvSpPr>
          <p:nvPr>
            <p:ph type="body" idx="1"/>
          </p:nvPr>
        </p:nvSpPr>
        <p:spPr/>
        <p:txBody>
          <a:bodyPr/>
          <a:lstStyle/>
          <a:p>
            <a:r>
              <a:rPr lang="en-US" b="0" dirty="0"/>
              <a:t>Feedback</a:t>
            </a:r>
          </a:p>
        </p:txBody>
      </p:sp>
      <p:sp>
        <p:nvSpPr>
          <p:cNvPr id="4" name="Content Placeholder 3">
            <a:extLst>
              <a:ext uri="{FF2B5EF4-FFF2-40B4-BE49-F238E27FC236}">
                <a16:creationId xmlns:a16="http://schemas.microsoft.com/office/drawing/2014/main" id="{8714CA55-032D-BBC5-74A4-213923415A92}"/>
              </a:ext>
            </a:extLst>
          </p:cNvPr>
          <p:cNvSpPr>
            <a:spLocks noGrp="1"/>
          </p:cNvSpPr>
          <p:nvPr>
            <p:ph sz="half" idx="2"/>
          </p:nvPr>
        </p:nvSpPr>
        <p:spPr/>
        <p:txBody>
          <a:bodyPr vert="horz" lIns="91440" tIns="45720" rIns="91440" bIns="45720" rtlCol="0" anchor="t">
            <a:normAutofit lnSpcReduction="10000"/>
          </a:bodyPr>
          <a:lstStyle/>
          <a:p>
            <a:pPr marL="285750" indent="-285750">
              <a:buFont typeface="Arial" panose="020B0604020202020204" pitchFamily="34" charset="0"/>
              <a:buChar char="•"/>
            </a:pPr>
            <a:r>
              <a:rPr lang="en-US" sz="1800" dirty="0"/>
              <a:t>Friendly Staff and Reported Improvements</a:t>
            </a:r>
          </a:p>
          <a:p>
            <a:pPr marL="285750" indent="-285750">
              <a:buFont typeface="Arial" panose="020B0604020202020204" pitchFamily="34" charset="0"/>
              <a:buChar char="•"/>
            </a:pPr>
            <a:r>
              <a:rPr lang="en-US" sz="1800" dirty="0"/>
              <a:t>Not Enough Fresh Protein Options</a:t>
            </a:r>
          </a:p>
          <a:p>
            <a:pPr marL="285750" indent="-285750">
              <a:buFont typeface="Arial" panose="020B0604020202020204" pitchFamily="34" charset="0"/>
              <a:buChar char="•"/>
            </a:pPr>
            <a:r>
              <a:rPr lang="en-US" sz="1800" dirty="0"/>
              <a:t>Healthy Options Are Dull and Lack Variety</a:t>
            </a:r>
          </a:p>
          <a:p>
            <a:pPr marL="285750" indent="-285750">
              <a:buFont typeface="Arial" panose="020B0604020202020204" pitchFamily="34" charset="0"/>
              <a:buChar char="•"/>
            </a:pPr>
            <a:r>
              <a:rPr lang="en-US" sz="1800" dirty="0"/>
              <a:t>Meal Options Are Repetitive </a:t>
            </a:r>
          </a:p>
          <a:p>
            <a:pPr marL="285750" indent="-285750">
              <a:buFont typeface="Arial" panose="020B0604020202020204" pitchFamily="34" charset="0"/>
              <a:buChar char="•"/>
            </a:pPr>
            <a:r>
              <a:rPr lang="en-US" sz="1800" dirty="0">
                <a:latin typeface="Helvetica"/>
                <a:cs typeface="Helvetica"/>
              </a:rPr>
              <a:t>More Flexible Dining Hall Hours</a:t>
            </a:r>
          </a:p>
        </p:txBody>
      </p:sp>
      <p:sp>
        <p:nvSpPr>
          <p:cNvPr id="5" name="Text Placeholder 4">
            <a:extLst>
              <a:ext uri="{FF2B5EF4-FFF2-40B4-BE49-F238E27FC236}">
                <a16:creationId xmlns:a16="http://schemas.microsoft.com/office/drawing/2014/main" id="{5D22674A-89A2-7C83-A374-3D71C05E083D}"/>
              </a:ext>
            </a:extLst>
          </p:cNvPr>
          <p:cNvSpPr>
            <a:spLocks noGrp="1"/>
          </p:cNvSpPr>
          <p:nvPr>
            <p:ph type="body" sz="quarter" idx="3"/>
          </p:nvPr>
        </p:nvSpPr>
        <p:spPr/>
        <p:txBody>
          <a:bodyPr/>
          <a:lstStyle/>
          <a:p>
            <a:r>
              <a:rPr lang="en-US" b="0" dirty="0"/>
              <a:t>Suggestions</a:t>
            </a:r>
          </a:p>
        </p:txBody>
      </p:sp>
      <p:sp>
        <p:nvSpPr>
          <p:cNvPr id="6" name="Content Placeholder 5">
            <a:extLst>
              <a:ext uri="{FF2B5EF4-FFF2-40B4-BE49-F238E27FC236}">
                <a16:creationId xmlns:a16="http://schemas.microsoft.com/office/drawing/2014/main" id="{44A2DD4D-671D-399B-DCBA-9BED20775874}"/>
              </a:ext>
            </a:extLst>
          </p:cNvPr>
          <p:cNvSpPr>
            <a:spLocks noGrp="1"/>
          </p:cNvSpPr>
          <p:nvPr>
            <p:ph sz="quarter" idx="4"/>
          </p:nvPr>
        </p:nvSpPr>
        <p:spPr/>
        <p:txBody>
          <a:bodyPr>
            <a:normAutofit lnSpcReduction="10000"/>
          </a:bodyPr>
          <a:lstStyle/>
          <a:p>
            <a:pPr marL="285750" indent="-285750">
              <a:buFont typeface="Arial" panose="020B0604020202020204" pitchFamily="34" charset="0"/>
              <a:buChar char="•"/>
            </a:pPr>
            <a:r>
              <a:rPr lang="en-US" sz="1800" dirty="0"/>
              <a:t>Add More Fresh Fruit and Vegetable Options</a:t>
            </a:r>
          </a:p>
          <a:p>
            <a:pPr marL="285750" indent="-285750">
              <a:buFont typeface="Arial" panose="020B0604020202020204" pitchFamily="34" charset="0"/>
              <a:buChar char="•"/>
            </a:pPr>
            <a:r>
              <a:rPr lang="en-US" sz="1800" dirty="0"/>
              <a:t>Extend Breakfast Hours by an Additional Hour</a:t>
            </a:r>
          </a:p>
          <a:p>
            <a:pPr marL="285750" indent="-285750">
              <a:buFont typeface="Arial" panose="020B0604020202020204" pitchFamily="34" charset="0"/>
              <a:buChar char="•"/>
            </a:pPr>
            <a:r>
              <a:rPr lang="en-US" sz="1800" dirty="0"/>
              <a:t>Meal Ideas From Students:</a:t>
            </a:r>
          </a:p>
          <a:p>
            <a:pPr marL="474980" lvl="1">
              <a:buFont typeface="Courier New" panose="020B0604020202020204" pitchFamily="34" charset="0"/>
              <a:buChar char="o"/>
            </a:pPr>
            <a:r>
              <a:rPr lang="en-US" sz="1800" dirty="0"/>
              <a:t>Tacos</a:t>
            </a:r>
          </a:p>
          <a:p>
            <a:pPr marL="474980" lvl="1">
              <a:buFont typeface="Courier New" panose="020B0604020202020204" pitchFamily="34" charset="0"/>
              <a:buChar char="o"/>
            </a:pPr>
            <a:r>
              <a:rPr lang="en-US" sz="1800" dirty="0"/>
              <a:t>Healthy Rice Bowls</a:t>
            </a:r>
          </a:p>
          <a:p>
            <a:pPr marL="474980" lvl="1">
              <a:buFont typeface="Courier New" panose="020B0604020202020204" pitchFamily="34" charset="0"/>
              <a:buChar char="o"/>
            </a:pPr>
            <a:r>
              <a:rPr lang="en-US" sz="1800" dirty="0"/>
              <a:t>Daily Chicken Nuggets</a:t>
            </a:r>
          </a:p>
          <a:p>
            <a:pPr marL="474980" lvl="1">
              <a:buFont typeface="Courier New" panose="020B0604020202020204" pitchFamily="34" charset="0"/>
              <a:buChar char="o"/>
            </a:pPr>
            <a:r>
              <a:rPr lang="en-US" sz="1800" dirty="0"/>
              <a:t>Chicken Wing</a:t>
            </a:r>
          </a:p>
          <a:p>
            <a:pPr marL="474980" lvl="1">
              <a:buFont typeface="Courier New" panose="020B0604020202020204" pitchFamily="34" charset="0"/>
              <a:buChar char="o"/>
            </a:pPr>
            <a:r>
              <a:rPr lang="en-US" sz="1800" dirty="0"/>
              <a:t>Diversity (More Mexican, Korean, Chinese, etc.)</a:t>
            </a:r>
          </a:p>
          <a:p>
            <a:pPr marL="474980" lvl="1">
              <a:buFont typeface="Courier New" panose="020B0604020202020204" pitchFamily="34" charset="0"/>
              <a:buChar char="o"/>
            </a:pPr>
            <a:r>
              <a:rPr lang="en-US" sz="1800" dirty="0"/>
              <a:t>Healthy Potatoes</a:t>
            </a:r>
          </a:p>
        </p:txBody>
      </p:sp>
    </p:spTree>
    <p:extLst>
      <p:ext uri="{BB962C8B-B14F-4D97-AF65-F5344CB8AC3E}">
        <p14:creationId xmlns:p14="http://schemas.microsoft.com/office/powerpoint/2010/main" val="4012027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A52F4-1880-597E-C4EE-4EB01364FEE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19353A-B624-5E52-EFBA-ACC3452E4C7C}"/>
              </a:ext>
            </a:extLst>
          </p:cNvPr>
          <p:cNvSpPr txBox="1"/>
          <p:nvPr/>
        </p:nvSpPr>
        <p:spPr>
          <a:xfrm>
            <a:off x="444500" y="4127500"/>
            <a:ext cx="10934700" cy="769441"/>
          </a:xfrm>
          <a:prstGeom prst="rect">
            <a:avLst/>
          </a:prstGeom>
          <a:noFill/>
        </p:spPr>
        <p:txBody>
          <a:bodyPr wrap="square" rtlCol="0">
            <a:spAutoFit/>
          </a:bodyPr>
          <a:lstStyle/>
          <a:p>
            <a:r>
              <a:rPr lang="en-US" sz="4400" dirty="0">
                <a:solidFill>
                  <a:srgbClr val="D42645"/>
                </a:solidFill>
                <a:latin typeface="Helvetica" pitchFamily="2" charset="0"/>
              </a:rPr>
              <a:t>Belonging &amp; Community</a:t>
            </a:r>
            <a:r>
              <a:rPr lang="en-US" sz="4400" dirty="0">
                <a:latin typeface="Helvetica" pitchFamily="2" charset="0"/>
              </a:rPr>
              <a:t> Around Campus</a:t>
            </a:r>
          </a:p>
        </p:txBody>
      </p:sp>
      <p:sp>
        <p:nvSpPr>
          <p:cNvPr id="3" name="TextBox 2">
            <a:extLst>
              <a:ext uri="{FF2B5EF4-FFF2-40B4-BE49-F238E27FC236}">
                <a16:creationId xmlns:a16="http://schemas.microsoft.com/office/drawing/2014/main" id="{22C50E91-2709-6E84-56DA-D85E05037A23}"/>
              </a:ext>
            </a:extLst>
          </p:cNvPr>
          <p:cNvSpPr txBox="1"/>
          <p:nvPr/>
        </p:nvSpPr>
        <p:spPr>
          <a:xfrm>
            <a:off x="444500" y="4896941"/>
            <a:ext cx="10807700" cy="369332"/>
          </a:xfrm>
          <a:prstGeom prst="rect">
            <a:avLst/>
          </a:prstGeom>
          <a:noFill/>
        </p:spPr>
        <p:txBody>
          <a:bodyPr wrap="square" rtlCol="0">
            <a:spAutoFit/>
          </a:bodyPr>
          <a:lstStyle/>
          <a:p>
            <a:r>
              <a:rPr lang="en-US" dirty="0">
                <a:latin typeface="Helvetica" pitchFamily="2" charset="0"/>
              </a:rPr>
              <a:t>Students have a strong sense of belonging on campus.</a:t>
            </a:r>
          </a:p>
        </p:txBody>
      </p:sp>
      <p:pic>
        <p:nvPicPr>
          <p:cNvPr id="6" name="Graphic 5" descr="Group outline">
            <a:extLst>
              <a:ext uri="{FF2B5EF4-FFF2-40B4-BE49-F238E27FC236}">
                <a16:creationId xmlns:a16="http://schemas.microsoft.com/office/drawing/2014/main" id="{862C6049-3E61-8A95-53C5-838596F94B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34401" y="1681843"/>
            <a:ext cx="2097314" cy="2097314"/>
          </a:xfrm>
          <a:prstGeom prst="rect">
            <a:avLst/>
          </a:prstGeom>
        </p:spPr>
      </p:pic>
    </p:spTree>
    <p:extLst>
      <p:ext uri="{BB962C8B-B14F-4D97-AF65-F5344CB8AC3E}">
        <p14:creationId xmlns:p14="http://schemas.microsoft.com/office/powerpoint/2010/main" val="3421851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1D493-B304-A410-38A1-CEF05CC8CAA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552B01-4B2F-9A3D-405F-ABBAEB9DEF17}"/>
              </a:ext>
            </a:extLst>
          </p:cNvPr>
          <p:cNvSpPr txBox="1"/>
          <p:nvPr/>
        </p:nvSpPr>
        <p:spPr>
          <a:xfrm>
            <a:off x="679809" y="533400"/>
            <a:ext cx="10947400" cy="3662541"/>
          </a:xfrm>
          <a:prstGeom prst="rect">
            <a:avLst/>
          </a:prstGeom>
          <a:noFill/>
        </p:spPr>
        <p:txBody>
          <a:bodyPr wrap="square" rtlCol="0">
            <a:spAutoFit/>
          </a:bodyPr>
          <a:lstStyle/>
          <a:p>
            <a:r>
              <a:rPr lang="en-US" sz="4400" dirty="0">
                <a:latin typeface="Helvetica" pitchFamily="2" charset="0"/>
              </a:rPr>
              <a:t>Belonging &amp; Community</a:t>
            </a:r>
          </a:p>
          <a:p>
            <a:endParaRPr lang="en-US" sz="4400" dirty="0">
              <a:latin typeface="Helvetica" pitchFamily="2" charset="0"/>
            </a:endParaRPr>
          </a:p>
          <a:p>
            <a:r>
              <a:rPr lang="en-US" dirty="0">
                <a:latin typeface="Helvetica" pitchFamily="2" charset="0"/>
              </a:rPr>
              <a:t>SAC / REC Programs</a:t>
            </a:r>
          </a:p>
          <a:p>
            <a:endParaRPr lang="en-US" dirty="0">
              <a:latin typeface="Helvetica" pitchFamily="2" charset="0"/>
            </a:endParaRPr>
          </a:p>
          <a:p>
            <a:r>
              <a:rPr lang="en-US" dirty="0">
                <a:latin typeface="Helvetica" pitchFamily="2" charset="0"/>
              </a:rPr>
              <a:t>Bingo</a:t>
            </a:r>
          </a:p>
          <a:p>
            <a:endParaRPr lang="en-US" dirty="0">
              <a:latin typeface="Helvetica" pitchFamily="2" charset="0"/>
            </a:endParaRPr>
          </a:p>
          <a:p>
            <a:r>
              <a:rPr lang="en-US" dirty="0">
                <a:latin typeface="Helvetica" pitchFamily="2" charset="0"/>
              </a:rPr>
              <a:t>Ping Pong</a:t>
            </a:r>
          </a:p>
          <a:p>
            <a:endParaRPr lang="en-US" dirty="0">
              <a:latin typeface="Helvetica" pitchFamily="2" charset="0"/>
            </a:endParaRPr>
          </a:p>
          <a:p>
            <a:r>
              <a:rPr lang="en-US" dirty="0">
                <a:latin typeface="Helvetica" pitchFamily="2" charset="0"/>
              </a:rPr>
              <a:t>Weekend Events</a:t>
            </a:r>
          </a:p>
          <a:p>
            <a:endParaRPr lang="en-US" dirty="0">
              <a:latin typeface="Helvetica" pitchFamily="2" charset="0"/>
            </a:endParaRPr>
          </a:p>
        </p:txBody>
      </p:sp>
      <p:cxnSp>
        <p:nvCxnSpPr>
          <p:cNvPr id="4" name="Straight Connector 3">
            <a:extLst>
              <a:ext uri="{FF2B5EF4-FFF2-40B4-BE49-F238E27FC236}">
                <a16:creationId xmlns:a16="http://schemas.microsoft.com/office/drawing/2014/main" id="{511CA1C8-6FC0-0C42-2CE6-C1090B182E99}"/>
              </a:ext>
            </a:extLst>
          </p:cNvPr>
          <p:cNvCxnSpPr/>
          <p:nvPr/>
        </p:nvCxnSpPr>
        <p:spPr>
          <a:xfrm>
            <a:off x="673100" y="2286000"/>
            <a:ext cx="6375400" cy="0"/>
          </a:xfrm>
          <a:prstGeom prst="line">
            <a:avLst/>
          </a:prstGeom>
          <a:ln w="12700">
            <a:solidFill>
              <a:srgbClr val="D42645"/>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8996CBA-AC89-7E6D-27AB-36866B288ACC}"/>
              </a:ext>
            </a:extLst>
          </p:cNvPr>
          <p:cNvCxnSpPr/>
          <p:nvPr/>
        </p:nvCxnSpPr>
        <p:spPr>
          <a:xfrm>
            <a:off x="673100" y="2857500"/>
            <a:ext cx="6375400" cy="0"/>
          </a:xfrm>
          <a:prstGeom prst="line">
            <a:avLst/>
          </a:prstGeom>
          <a:ln w="12700">
            <a:solidFill>
              <a:srgbClr val="D42645"/>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7253335-2456-0C12-B10A-20DFADD86878}"/>
              </a:ext>
            </a:extLst>
          </p:cNvPr>
          <p:cNvCxnSpPr/>
          <p:nvPr/>
        </p:nvCxnSpPr>
        <p:spPr>
          <a:xfrm>
            <a:off x="673100" y="3429000"/>
            <a:ext cx="6375400" cy="0"/>
          </a:xfrm>
          <a:prstGeom prst="line">
            <a:avLst/>
          </a:prstGeom>
          <a:ln w="12700">
            <a:solidFill>
              <a:srgbClr val="D42645"/>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264B7B0-0046-B17B-9324-A432CCE60B66}"/>
              </a:ext>
            </a:extLst>
          </p:cNvPr>
          <p:cNvCxnSpPr/>
          <p:nvPr/>
        </p:nvCxnSpPr>
        <p:spPr>
          <a:xfrm>
            <a:off x="673100" y="3987800"/>
            <a:ext cx="6375400" cy="0"/>
          </a:xfrm>
          <a:prstGeom prst="line">
            <a:avLst/>
          </a:prstGeom>
          <a:ln w="12700">
            <a:solidFill>
              <a:srgbClr val="D42645"/>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095691-0BE9-D0D2-B9EB-CBDFDDED6E3D}"/>
              </a:ext>
            </a:extLst>
          </p:cNvPr>
          <p:cNvCxnSpPr/>
          <p:nvPr/>
        </p:nvCxnSpPr>
        <p:spPr>
          <a:xfrm>
            <a:off x="673100" y="1816100"/>
            <a:ext cx="6375400" cy="0"/>
          </a:xfrm>
          <a:prstGeom prst="line">
            <a:avLst/>
          </a:prstGeom>
          <a:ln w="12700">
            <a:solidFill>
              <a:srgbClr val="D42645"/>
            </a:solidFill>
          </a:ln>
        </p:spPr>
        <p:style>
          <a:lnRef idx="1">
            <a:schemeClr val="accent1"/>
          </a:lnRef>
          <a:fillRef idx="0">
            <a:schemeClr val="accent1"/>
          </a:fillRef>
          <a:effectRef idx="0">
            <a:schemeClr val="accent1"/>
          </a:effectRef>
          <a:fontRef idx="minor">
            <a:schemeClr val="tx1"/>
          </a:fontRef>
        </p:style>
      </p:cxnSp>
      <p:pic>
        <p:nvPicPr>
          <p:cNvPr id="10" name="Graphic 9" descr="Table tennis paddle and ball outline">
            <a:extLst>
              <a:ext uri="{FF2B5EF4-FFF2-40B4-BE49-F238E27FC236}">
                <a16:creationId xmlns:a16="http://schemas.microsoft.com/office/drawing/2014/main" id="{7F411B1C-833F-7BEF-96F0-213000191A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38324" y="1987912"/>
            <a:ext cx="1739175" cy="1739175"/>
          </a:xfrm>
          <a:prstGeom prst="rect">
            <a:avLst/>
          </a:prstGeom>
        </p:spPr>
      </p:pic>
    </p:spTree>
    <p:extLst>
      <p:ext uri="{BB962C8B-B14F-4D97-AF65-F5344CB8AC3E}">
        <p14:creationId xmlns:p14="http://schemas.microsoft.com/office/powerpoint/2010/main" val="327850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E85D9-0F45-5EC7-4557-47B5E6A4A0BF}"/>
              </a:ext>
            </a:extLst>
          </p:cNvPr>
          <p:cNvSpPr>
            <a:spLocks noGrp="1"/>
          </p:cNvSpPr>
          <p:nvPr>
            <p:ph type="title"/>
          </p:nvPr>
        </p:nvSpPr>
        <p:spPr/>
        <p:txBody>
          <a:bodyPr/>
          <a:lstStyle/>
          <a:p>
            <a:r>
              <a:rPr lang="en-US" b="0" dirty="0"/>
              <a:t>Belonging &amp; Community Summary</a:t>
            </a:r>
          </a:p>
        </p:txBody>
      </p:sp>
      <p:sp>
        <p:nvSpPr>
          <p:cNvPr id="3" name="Text Placeholder 2">
            <a:extLst>
              <a:ext uri="{FF2B5EF4-FFF2-40B4-BE49-F238E27FC236}">
                <a16:creationId xmlns:a16="http://schemas.microsoft.com/office/drawing/2014/main" id="{946CE7AA-C9CE-80BD-3684-D5D1E9A3431B}"/>
              </a:ext>
            </a:extLst>
          </p:cNvPr>
          <p:cNvSpPr>
            <a:spLocks noGrp="1"/>
          </p:cNvSpPr>
          <p:nvPr>
            <p:ph type="body" idx="1"/>
          </p:nvPr>
        </p:nvSpPr>
        <p:spPr/>
        <p:txBody>
          <a:bodyPr/>
          <a:lstStyle/>
          <a:p>
            <a:r>
              <a:rPr lang="en-US" b="0" dirty="0"/>
              <a:t>Resident Survey Data Shows:</a:t>
            </a:r>
          </a:p>
        </p:txBody>
      </p:sp>
      <p:sp>
        <p:nvSpPr>
          <p:cNvPr id="4" name="Content Placeholder 3">
            <a:extLst>
              <a:ext uri="{FF2B5EF4-FFF2-40B4-BE49-F238E27FC236}">
                <a16:creationId xmlns:a16="http://schemas.microsoft.com/office/drawing/2014/main" id="{0E22EBA9-86AB-E363-E812-631F3C745685}"/>
              </a:ext>
            </a:extLst>
          </p:cNvPr>
          <p:cNvSpPr>
            <a:spLocks noGrp="1"/>
          </p:cNvSpPr>
          <p:nvPr>
            <p:ph sz="half" idx="2"/>
          </p:nvPr>
        </p:nvSpPr>
        <p:spPr/>
        <p:txBody>
          <a:bodyPr>
            <a:normAutofit fontScale="92500" lnSpcReduction="10000"/>
          </a:bodyPr>
          <a:lstStyle/>
          <a:p>
            <a:pPr marL="342900" indent="-342900">
              <a:buFont typeface="Arial" panose="020B0604020202020204" pitchFamily="34" charset="0"/>
              <a:buChar char="•"/>
            </a:pPr>
            <a:r>
              <a:rPr lang="en-US" sz="1900" dirty="0">
                <a:ea typeface="+mn-lt"/>
                <a:cs typeface="+mn-lt"/>
              </a:rPr>
              <a:t>Having a mentor on campus shows the highest association with community belonging</a:t>
            </a:r>
          </a:p>
          <a:p>
            <a:pPr marL="342900" indent="-342900">
              <a:buFont typeface="Arial" panose="020B0604020202020204" pitchFamily="34" charset="0"/>
              <a:buChar char="•"/>
            </a:pPr>
            <a:r>
              <a:rPr lang="en-US" sz="1900" dirty="0">
                <a:ea typeface="+mn-lt"/>
                <a:cs typeface="+mn-lt"/>
              </a:rPr>
              <a:t>Residential community experience is a major driver of connection</a:t>
            </a:r>
          </a:p>
          <a:p>
            <a:pPr marL="342900" indent="-342900">
              <a:buFont typeface="Arial" panose="020B0604020202020204" pitchFamily="34" charset="0"/>
              <a:buChar char="•"/>
            </a:pPr>
            <a:r>
              <a:rPr lang="en-US" sz="1900" dirty="0">
                <a:ea typeface="+mn-lt"/>
                <a:cs typeface="+mn-lt"/>
              </a:rPr>
              <a:t>REC/SAC events and intramural participation are strongly associated with higher community scores</a:t>
            </a:r>
          </a:p>
          <a:p>
            <a:pPr marL="342900" indent="-342900">
              <a:buFont typeface="Arial" panose="020B0604020202020204" pitchFamily="34" charset="0"/>
              <a:buChar char="•"/>
            </a:pPr>
            <a:r>
              <a:rPr lang="en-US" sz="1900" dirty="0">
                <a:ea typeface="+mn-lt"/>
                <a:cs typeface="+mn-lt"/>
              </a:rPr>
              <a:t>Athletic participation is the dominant connection pathway due to both strong scores and high participation</a:t>
            </a:r>
            <a:endParaRPr lang="en-US" sz="1900" dirty="0"/>
          </a:p>
          <a:p>
            <a:endParaRPr lang="en-US" dirty="0"/>
          </a:p>
        </p:txBody>
      </p:sp>
      <p:sp>
        <p:nvSpPr>
          <p:cNvPr id="5" name="Text Placeholder 4">
            <a:extLst>
              <a:ext uri="{FF2B5EF4-FFF2-40B4-BE49-F238E27FC236}">
                <a16:creationId xmlns:a16="http://schemas.microsoft.com/office/drawing/2014/main" id="{10F8CCF7-69EB-E4B4-8A98-D5C94A6C92EE}"/>
              </a:ext>
            </a:extLst>
          </p:cNvPr>
          <p:cNvSpPr>
            <a:spLocks noGrp="1"/>
          </p:cNvSpPr>
          <p:nvPr>
            <p:ph type="body" sz="quarter" idx="3"/>
          </p:nvPr>
        </p:nvSpPr>
        <p:spPr/>
        <p:txBody>
          <a:bodyPr/>
          <a:lstStyle/>
          <a:p>
            <a:r>
              <a:rPr lang="en-US" b="0" dirty="0"/>
              <a:t>Suggestions</a:t>
            </a:r>
          </a:p>
        </p:txBody>
      </p:sp>
      <p:sp>
        <p:nvSpPr>
          <p:cNvPr id="6" name="Content Placeholder 5">
            <a:extLst>
              <a:ext uri="{FF2B5EF4-FFF2-40B4-BE49-F238E27FC236}">
                <a16:creationId xmlns:a16="http://schemas.microsoft.com/office/drawing/2014/main" id="{6219A587-A16F-04C4-D70D-02B3A6144659}"/>
              </a:ext>
            </a:extLst>
          </p:cNvPr>
          <p:cNvSpPr>
            <a:spLocks noGrp="1"/>
          </p:cNvSpPr>
          <p:nvPr>
            <p:ph sz="quarter" idx="4"/>
          </p:nvPr>
        </p:nvSpPr>
        <p:spPr/>
        <p:txBody>
          <a:bodyPr vert="horz" lIns="91440" tIns="45720" rIns="91440" bIns="45720" rtlCol="0" anchor="t">
            <a:normAutofit fontScale="92500" lnSpcReduction="10000"/>
          </a:bodyPr>
          <a:lstStyle/>
          <a:p>
            <a:pPr marL="342900" indent="-342900">
              <a:buFont typeface="Arial" panose="020B0604020202020204" pitchFamily="34" charset="0"/>
              <a:buChar char="•"/>
            </a:pPr>
            <a:r>
              <a:rPr lang="en-US" sz="1900" dirty="0">
                <a:latin typeface="Helvetica"/>
                <a:cs typeface="Helvetica"/>
              </a:rPr>
              <a:t>More mentorship opportunities for underclassmen and transfer students</a:t>
            </a:r>
          </a:p>
          <a:p>
            <a:pPr marL="342900" indent="-342900">
              <a:buFont typeface="Arial" panose="020B0604020202020204" pitchFamily="34" charset="0"/>
              <a:buChar char="•"/>
            </a:pPr>
            <a:r>
              <a:rPr lang="en-US" sz="1900" dirty="0"/>
              <a:t>More REC/SAC Events on Weekends</a:t>
            </a:r>
          </a:p>
          <a:p>
            <a:pPr marL="342900" indent="-342900">
              <a:buFont typeface="Arial" panose="020B0604020202020204" pitchFamily="34" charset="0"/>
              <a:buChar char="•"/>
            </a:pPr>
            <a:r>
              <a:rPr lang="en-US" sz="1900" dirty="0"/>
              <a:t>Ping-Pong Tables in Dorms </a:t>
            </a:r>
          </a:p>
          <a:p>
            <a:pPr marL="342900" indent="-342900">
              <a:buFont typeface="Arial" panose="020B0604020202020204" pitchFamily="34" charset="0"/>
              <a:buChar char="•"/>
            </a:pPr>
            <a:r>
              <a:rPr lang="en-US" sz="1900" dirty="0">
                <a:latin typeface="Helvetica"/>
                <a:cs typeface="Helvetica"/>
              </a:rPr>
              <a:t>Commuter Student-Specific Events</a:t>
            </a:r>
          </a:p>
          <a:p>
            <a:endParaRPr lang="en-US" dirty="0">
              <a:cs typeface="Helvetica" pitchFamily="34" charset="0"/>
            </a:endParaRPr>
          </a:p>
        </p:txBody>
      </p:sp>
    </p:spTree>
    <p:extLst>
      <p:ext uri="{BB962C8B-B14F-4D97-AF65-F5344CB8AC3E}">
        <p14:creationId xmlns:p14="http://schemas.microsoft.com/office/powerpoint/2010/main" val="8416205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0A183-52FC-EBA9-6F25-A68FF3EC393D}"/>
              </a:ext>
            </a:extLst>
          </p:cNvPr>
          <p:cNvSpPr>
            <a:spLocks noGrp="1"/>
          </p:cNvSpPr>
          <p:nvPr>
            <p:ph type="title"/>
          </p:nvPr>
        </p:nvSpPr>
        <p:spPr/>
        <p:txBody>
          <a:bodyPr/>
          <a:lstStyle/>
          <a:p>
            <a:r>
              <a:rPr lang="en-US" b="0" dirty="0">
                <a:latin typeface="Helvetica"/>
                <a:cs typeface="Helvetica"/>
              </a:rPr>
              <a:t>Key Takeaways - Safety, Dining, and Belonging</a:t>
            </a:r>
            <a:endParaRPr lang="en-US" b="0" dirty="0">
              <a:cs typeface="Helvetica"/>
            </a:endParaRPr>
          </a:p>
        </p:txBody>
      </p:sp>
      <p:sp>
        <p:nvSpPr>
          <p:cNvPr id="3" name="Content Placeholder 2">
            <a:extLst>
              <a:ext uri="{FF2B5EF4-FFF2-40B4-BE49-F238E27FC236}">
                <a16:creationId xmlns:a16="http://schemas.microsoft.com/office/drawing/2014/main" id="{53E9D6A5-C518-F10B-7581-88F4155EC6E7}"/>
              </a:ext>
            </a:extLst>
          </p:cNvPr>
          <p:cNvSpPr>
            <a:spLocks noGrp="1"/>
          </p:cNvSpPr>
          <p:nvPr>
            <p:ph idx="1"/>
          </p:nvPr>
        </p:nvSpPr>
        <p:spPr/>
        <p:txBody>
          <a:bodyPr>
            <a:normAutofit/>
          </a:bodyPr>
          <a:lstStyle/>
          <a:p>
            <a:pPr marL="457200" indent="-457200">
              <a:buFont typeface="Arial" panose="020B0604020202020204" pitchFamily="34" charset="0"/>
              <a:buChar char="•"/>
            </a:pPr>
            <a:r>
              <a:rPr lang="en-US" sz="2400" dirty="0"/>
              <a:t>Safety is a major strength on campus</a:t>
            </a:r>
          </a:p>
          <a:p>
            <a:pPr marL="457200" indent="-457200">
              <a:buFont typeface="Arial" panose="020B0604020202020204" pitchFamily="34" charset="0"/>
              <a:buChar char="•"/>
            </a:pPr>
            <a:r>
              <a:rPr lang="en-US" sz="2400" dirty="0"/>
              <a:t>Consider lighting improvements</a:t>
            </a:r>
          </a:p>
          <a:p>
            <a:pPr marL="457200" indent="-457200">
              <a:buFont typeface="Arial" panose="020B0604020202020204" pitchFamily="34" charset="0"/>
              <a:buChar char="•"/>
            </a:pPr>
            <a:r>
              <a:rPr lang="en-US" sz="2400" dirty="0"/>
              <a:t>Facilities are the biggest opportunity for improvement</a:t>
            </a:r>
          </a:p>
          <a:p>
            <a:pPr marL="457200" indent="-457200">
              <a:buFont typeface="Arial" panose="020B0604020202020204" pitchFamily="34" charset="0"/>
              <a:buChar char="•"/>
            </a:pPr>
            <a:r>
              <a:rPr lang="en-US" sz="2400" dirty="0"/>
              <a:t>Students desire more variety, healthier options, and extended hours from dining </a:t>
            </a:r>
          </a:p>
          <a:p>
            <a:pPr marL="457200" indent="-457200">
              <a:buFont typeface="Arial" panose="020B0604020202020204" pitchFamily="34" charset="0"/>
              <a:buChar char="•"/>
            </a:pPr>
            <a:r>
              <a:rPr lang="en-US" sz="2400" dirty="0"/>
              <a:t>Driven by events, athletics, and mentorship opportunities, a strong sense of community exists</a:t>
            </a:r>
          </a:p>
        </p:txBody>
      </p:sp>
    </p:spTree>
    <p:extLst>
      <p:ext uri="{BB962C8B-B14F-4D97-AF65-F5344CB8AC3E}">
        <p14:creationId xmlns:p14="http://schemas.microsoft.com/office/powerpoint/2010/main" val="3275240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24473-1585-E20E-9038-D890D0675169}"/>
              </a:ext>
            </a:extLst>
          </p:cNvPr>
          <p:cNvSpPr>
            <a:spLocks noGrp="1"/>
          </p:cNvSpPr>
          <p:nvPr>
            <p:ph type="title"/>
          </p:nvPr>
        </p:nvSpPr>
        <p:spPr/>
        <p:txBody>
          <a:bodyPr/>
          <a:lstStyle/>
          <a:p>
            <a:r>
              <a:rPr lang="en-US" b="0" dirty="0">
                <a:latin typeface="Helvetica"/>
                <a:cs typeface="Helvetica"/>
              </a:rPr>
              <a:t>Key Takeaways – Facilities and Survey</a:t>
            </a:r>
            <a:endParaRPr lang="en-US" b="0" dirty="0"/>
          </a:p>
        </p:txBody>
      </p:sp>
      <p:sp>
        <p:nvSpPr>
          <p:cNvPr id="3" name="Content Placeholder 2">
            <a:extLst>
              <a:ext uri="{FF2B5EF4-FFF2-40B4-BE49-F238E27FC236}">
                <a16:creationId xmlns:a16="http://schemas.microsoft.com/office/drawing/2014/main" id="{69B496E5-426A-9950-B00A-3A85CE5CD1A1}"/>
              </a:ext>
            </a:extLst>
          </p:cNvPr>
          <p:cNvSpPr>
            <a:spLocks noGrp="1"/>
          </p:cNvSpPr>
          <p:nvPr>
            <p:ph idx="1"/>
          </p:nvPr>
        </p:nvSpPr>
        <p:spPr/>
        <p:txBody>
          <a:bodyPr/>
          <a:lstStyle/>
          <a:p>
            <a:pPr marL="457200" indent="-457200">
              <a:buFont typeface="Arial" panose="020B0604020202020204" pitchFamily="34" charset="0"/>
              <a:buChar char="•"/>
            </a:pPr>
            <a:r>
              <a:rPr lang="en-US" sz="2400" dirty="0"/>
              <a:t>Significant Drop in Survey Response Rates</a:t>
            </a:r>
          </a:p>
          <a:p>
            <a:pPr marL="457200" indent="-457200">
              <a:buFont typeface="Arial" panose="020B0604020202020204" pitchFamily="34" charset="0"/>
              <a:buChar char="•"/>
            </a:pPr>
            <a:r>
              <a:rPr lang="en-US" sz="2400" dirty="0"/>
              <a:t>L Apartments are Declining</a:t>
            </a:r>
          </a:p>
          <a:p>
            <a:pPr marL="457200" indent="-457200">
              <a:buFont typeface="Arial" panose="020B0604020202020204" pitchFamily="34" charset="0"/>
              <a:buChar char="•"/>
            </a:pPr>
            <a:r>
              <a:rPr lang="en-US" sz="2400" dirty="0"/>
              <a:t>Resident Assistant Performance</a:t>
            </a:r>
          </a:p>
          <a:p>
            <a:pPr marL="457200" indent="-457200">
              <a:buFont typeface="Arial" panose="020B0604020202020204" pitchFamily="34" charset="0"/>
              <a:buChar char="•"/>
            </a:pPr>
            <a:r>
              <a:rPr lang="en-US" sz="2400" dirty="0"/>
              <a:t>Reduced Interest in Hull Suites </a:t>
            </a:r>
          </a:p>
          <a:p>
            <a:pPr marL="457200" indent="-457200">
              <a:buFont typeface="Arial" panose="020B0604020202020204" pitchFamily="34" charset="0"/>
              <a:buChar char="•"/>
            </a:pPr>
            <a:r>
              <a:rPr lang="en-US" sz="2400" dirty="0"/>
              <a:t>Some Halls Lack Usable Data</a:t>
            </a:r>
          </a:p>
          <a:p>
            <a:pPr marL="457200" indent="-457200">
              <a:buFont typeface="Arial" panose="020B0604020202020204" pitchFamily="34" charset="0"/>
              <a:buChar char="•"/>
            </a:pPr>
            <a:r>
              <a:rPr lang="en-US" sz="2400" dirty="0"/>
              <a:t>Overall Cleanliness of Facilities </a:t>
            </a:r>
          </a:p>
          <a:p>
            <a:endParaRPr lang="en-US" dirty="0"/>
          </a:p>
        </p:txBody>
      </p:sp>
    </p:spTree>
    <p:extLst>
      <p:ext uri="{BB962C8B-B14F-4D97-AF65-F5344CB8AC3E}">
        <p14:creationId xmlns:p14="http://schemas.microsoft.com/office/powerpoint/2010/main" val="1373563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7269D-6495-BEF8-1697-5AA417928964}"/>
              </a:ext>
            </a:extLst>
          </p:cNvPr>
          <p:cNvSpPr>
            <a:spLocks noGrp="1"/>
          </p:cNvSpPr>
          <p:nvPr>
            <p:ph type="title"/>
          </p:nvPr>
        </p:nvSpPr>
        <p:spPr/>
        <p:txBody>
          <a:bodyPr/>
          <a:lstStyle/>
          <a:p>
            <a:r>
              <a:rPr lang="en-US" b="0" dirty="0"/>
              <a:t>Suggestions</a:t>
            </a:r>
          </a:p>
        </p:txBody>
      </p:sp>
      <p:sp>
        <p:nvSpPr>
          <p:cNvPr id="3" name="Content Placeholder 2">
            <a:extLst>
              <a:ext uri="{FF2B5EF4-FFF2-40B4-BE49-F238E27FC236}">
                <a16:creationId xmlns:a16="http://schemas.microsoft.com/office/drawing/2014/main" id="{BFC4F848-1B22-9444-DB1F-BCA5F2A6815F}"/>
              </a:ext>
            </a:extLst>
          </p:cNvPr>
          <p:cNvSpPr>
            <a:spLocks noGrp="1"/>
          </p:cNvSpPr>
          <p:nvPr>
            <p:ph idx="1"/>
          </p:nvPr>
        </p:nvSpPr>
        <p:spPr/>
        <p:txBody>
          <a:bodyPr/>
          <a:lstStyle/>
          <a:p>
            <a:pPr marL="457200" indent="-457200">
              <a:buFont typeface="Arial" panose="020B0604020202020204" pitchFamily="34" charset="0"/>
              <a:buChar char="•"/>
            </a:pPr>
            <a:r>
              <a:rPr lang="en-US" dirty="0"/>
              <a:t>Address RA Performance Issues</a:t>
            </a:r>
          </a:p>
          <a:p>
            <a:pPr marL="1143000" lvl="1" indent="-457200"/>
            <a:r>
              <a:rPr lang="en-US" dirty="0"/>
              <a:t>Review Resident Assistant Training</a:t>
            </a:r>
          </a:p>
          <a:p>
            <a:pPr marL="1143000" lvl="1" indent="-457200"/>
            <a:r>
              <a:rPr lang="en-US" dirty="0"/>
              <a:t>Lack of Rule Enforcement</a:t>
            </a:r>
          </a:p>
          <a:p>
            <a:pPr marL="457200" indent="-457200">
              <a:buFont typeface="Arial" panose="020B0604020202020204" pitchFamily="34" charset="0"/>
              <a:buChar char="•"/>
            </a:pPr>
            <a:r>
              <a:rPr lang="en-US" dirty="0"/>
              <a:t>Increase Survey Response Rates</a:t>
            </a:r>
          </a:p>
          <a:p>
            <a:pPr marL="1143000" lvl="1" indent="-457200"/>
            <a:r>
              <a:rPr lang="en-US" dirty="0"/>
              <a:t>Better Incentives (gift cards, raffles, etc.)</a:t>
            </a:r>
          </a:p>
          <a:p>
            <a:pPr marL="1143000" lvl="1" indent="-457200"/>
            <a:r>
              <a:rPr lang="en-US" dirty="0"/>
              <a:t>Shorter Surveys</a:t>
            </a:r>
          </a:p>
          <a:p>
            <a:pPr marL="1143000" lvl="1" indent="-457200"/>
            <a:r>
              <a:rPr lang="en-US" dirty="0"/>
              <a:t>Better Timing and Reminders</a:t>
            </a:r>
          </a:p>
          <a:p>
            <a:pPr marL="1143000" lvl="1" indent="-457200"/>
            <a:r>
              <a:rPr lang="en-US" dirty="0"/>
              <a:t>Messages Showing Impact of Responses</a:t>
            </a:r>
          </a:p>
          <a:p>
            <a:endParaRPr lang="en-US" dirty="0"/>
          </a:p>
        </p:txBody>
      </p:sp>
    </p:spTree>
    <p:extLst>
      <p:ext uri="{BB962C8B-B14F-4D97-AF65-F5344CB8AC3E}">
        <p14:creationId xmlns:p14="http://schemas.microsoft.com/office/powerpoint/2010/main" val="2936286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EA1E6-2D65-37C0-0D21-B89ADC6E6021}"/>
              </a:ext>
            </a:extLst>
          </p:cNvPr>
          <p:cNvSpPr>
            <a:spLocks noGrp="1"/>
          </p:cNvSpPr>
          <p:nvPr>
            <p:ph type="title"/>
          </p:nvPr>
        </p:nvSpPr>
        <p:spPr/>
        <p:txBody>
          <a:bodyPr/>
          <a:lstStyle/>
          <a:p>
            <a:r>
              <a:rPr lang="en-US" b="0" dirty="0">
                <a:latin typeface="Helvetica"/>
                <a:cs typeface="Helvetica"/>
              </a:rPr>
              <a:t>Ques</a:t>
            </a:r>
            <a:r>
              <a:rPr lang="en-US" b="0">
                <a:latin typeface="Helvetica"/>
                <a:cs typeface="Helvetica"/>
              </a:rPr>
              <a:t>tions?</a:t>
            </a:r>
            <a:endParaRPr lang="en-US" b="0" dirty="0">
              <a:cs typeface="Helvetica"/>
            </a:endParaRPr>
          </a:p>
        </p:txBody>
      </p:sp>
      <p:pic>
        <p:nvPicPr>
          <p:cNvPr id="4" name="Content Placeholder 3" descr="Questions outline">
            <a:extLst>
              <a:ext uri="{FF2B5EF4-FFF2-40B4-BE49-F238E27FC236}">
                <a16:creationId xmlns:a16="http://schemas.microsoft.com/office/drawing/2014/main" id="{0A0B1CA6-A93D-646D-1B67-7AC4CD298BE8}"/>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4904620" y="2233235"/>
            <a:ext cx="2402114" cy="2390019"/>
          </a:xfrm>
          <a:prstGeom prst="rect">
            <a:avLst/>
          </a:prstGeom>
        </p:spPr>
      </p:pic>
    </p:spTree>
    <p:extLst>
      <p:ext uri="{BB962C8B-B14F-4D97-AF65-F5344CB8AC3E}">
        <p14:creationId xmlns:p14="http://schemas.microsoft.com/office/powerpoint/2010/main" val="570067058"/>
      </p:ext>
    </p:extLst>
  </p:cSld>
  <p:clrMapOvr>
    <a:masterClrMapping/>
  </p:clrMapOvr>
</p:sld>
</file>

<file path=ppt/theme/theme1.xml><?xml version="1.0" encoding="utf-8"?>
<a:theme xmlns:a="http://schemas.openxmlformats.org/drawingml/2006/main" name="GVU PowerPoi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VU PowerPoint Template" id="{AA5D943D-850F-4E13-8B8A-070181B86B0A}" vid="{32A415AA-80D3-47A2-BCFE-590607CB8B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39ACA21126204EAB6949F51B12EE9B" ma:contentTypeVersion="13" ma:contentTypeDescription="Create a new document." ma:contentTypeScope="" ma:versionID="fda658583b4844337c3d01a0edb3cc46">
  <xsd:schema xmlns:xsd="http://www.w3.org/2001/XMLSchema" xmlns:xs="http://www.w3.org/2001/XMLSchema" xmlns:p="http://schemas.microsoft.com/office/2006/metadata/properties" xmlns:ns3="1d7b902f-df43-49e4-9932-51e0f320bd8f" xmlns:ns4="79aa4d94-d773-4995-b9be-01e8b66f1759" targetNamespace="http://schemas.microsoft.com/office/2006/metadata/properties" ma:root="true" ma:fieldsID="dc7d535bee8c6ed3cf1fa1bd0f32197e" ns3:_="" ns4:_="">
    <xsd:import namespace="1d7b902f-df43-49e4-9932-51e0f320bd8f"/>
    <xsd:import namespace="79aa4d94-d773-4995-b9be-01e8b66f1759"/>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DateTaken" minOccurs="0"/>
                <xsd:element ref="ns3:MediaServiceSystem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7b902f-df43-49e4-9932-51e0f320bd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9aa4d94-d773-4995-b9be-01e8b66f1759"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1d7b902f-df43-49e4-9932-51e0f320bd8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C52562-D275-438B-A1D6-849699D8F35D}">
  <ds:schemaRefs>
    <ds:schemaRef ds:uri="1d7b902f-df43-49e4-9932-51e0f320bd8f"/>
    <ds:schemaRef ds:uri="79aa4d94-d773-4995-b9be-01e8b66f17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AA39433-A959-4688-A444-14AFEC54EF26}">
  <ds:schemaRefs>
    <ds:schemaRef ds:uri="http://purl.org/dc/dcmitype/"/>
    <ds:schemaRef ds:uri="http://schemas.microsoft.com/office/2006/metadata/properties"/>
    <ds:schemaRef ds:uri="http://purl.org/dc/elements/1.1/"/>
    <ds:schemaRef ds:uri="1d7b902f-df43-49e4-9932-51e0f320bd8f"/>
    <ds:schemaRef ds:uri="http://www.w3.org/XML/1998/namespace"/>
    <ds:schemaRef ds:uri="79aa4d94-d773-4995-b9be-01e8b66f1759"/>
    <ds:schemaRef ds:uri="http://schemas.microsoft.com/office/infopath/2007/PartnerControls"/>
    <ds:schemaRef ds:uri="http://schemas.microsoft.com/office/2006/documentManagement/type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100C0652-815C-4FC1-9287-0186C8FCB2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GVU PowerPoint Template</Template>
  <TotalTime>300</TotalTime>
  <Words>1872</Words>
  <Application>Microsoft Office PowerPoint</Application>
  <PresentationFormat>Widescreen</PresentationFormat>
  <Paragraphs>205</Paragraphs>
  <Slides>22</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Courier New</vt:lpstr>
      <vt:lpstr>Helvetica</vt:lpstr>
      <vt:lpstr>GVU PowerPoint</vt:lpstr>
      <vt:lpstr>Resident Life Survey Analysis Isabella Pastorino and Carly Richards 04/14/2026</vt:lpstr>
      <vt:lpstr>Agenda</vt:lpstr>
      <vt:lpstr>Response Rates  by Academic Year</vt:lpstr>
      <vt:lpstr>PowerPoint Presentation</vt:lpstr>
      <vt:lpstr>Safety Comments</vt:lpstr>
      <vt:lpstr>PowerPoint Presentation</vt:lpstr>
      <vt:lpstr>PowerPoint Presentation</vt:lpstr>
      <vt:lpstr>L Apartments Survey Findings</vt:lpstr>
      <vt:lpstr>PowerPoint Presentation</vt:lpstr>
      <vt:lpstr>PowerPoint Presentation</vt:lpstr>
      <vt:lpstr>Nielsen &amp; Knudsen Analysis</vt:lpstr>
      <vt:lpstr>Facilities Summary</vt:lpstr>
      <vt:lpstr>PowerPoint Presentation</vt:lpstr>
      <vt:lpstr>PowerPoint Presentation</vt:lpstr>
      <vt:lpstr>Dining Summary</vt:lpstr>
      <vt:lpstr>PowerPoint Presentation</vt:lpstr>
      <vt:lpstr>PowerPoint Presentation</vt:lpstr>
      <vt:lpstr>Belonging &amp; Community Summary</vt:lpstr>
      <vt:lpstr>Key Takeaways - Safety, Dining, and Belonging</vt:lpstr>
      <vt:lpstr>Key Takeaways – Facilities and Survey</vt:lpstr>
      <vt:lpstr>Suggestions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Kendall Dillon</dc:creator>
  <cp:lastModifiedBy>Ben Dupey</cp:lastModifiedBy>
  <cp:revision>417</cp:revision>
  <cp:lastPrinted>2016-10-21T16:25:11Z</cp:lastPrinted>
  <dcterms:created xsi:type="dcterms:W3CDTF">2017-03-08T16:08:49Z</dcterms:created>
  <dcterms:modified xsi:type="dcterms:W3CDTF">2026-04-06T19:33:04Z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0x010100DF39ACA21126204EAB6949F51B12EE9B</vt:lpwstr>
  </property>
</Properties>
</file>